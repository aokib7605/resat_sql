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1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56BD1A-04E8-3BC6-3AAE-D4BAEF7F8A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9EC5EE-5698-DCA5-38EC-5E543109D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941094-91C2-9CF7-D189-518443FE3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FCBB92-D81C-93BB-BB80-C2C7920C6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F95F54-1546-484C-82C9-6BE0BC52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367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D37EBD-8C8B-7481-DDE0-423F16F59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F89CB3-26F5-882C-6577-CAC7C75C7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B5C26B-6CC0-9B0E-79BA-C247405D4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162A17-4F72-D518-668F-4462F105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F2689-D28F-B571-4C12-E719B9251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1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C0390B-5103-C76D-CC5A-F4FAFFBD9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CE0A51-7105-551A-4800-9DAEF53B7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6D52DA-A7ED-2C9A-09D4-9757F97F3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0F8D73-B1B0-C48B-3793-4E539794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DB6769-13B7-6CA8-63D9-C33522C6E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175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9A2CBA-9295-5C66-8507-C48EA06E9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BAAA7D-019E-0A8E-FEC0-BDB18413A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53B6894-D3C5-B14B-A6ED-11E46F049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E6AF02-C947-4273-4216-30EF7BC3E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0120708-4875-AFD3-9135-6E6FDA82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2DC0B4-FB3F-3F70-6AD4-65995A5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2678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7A8722-B15C-DB9D-84FF-14E4E2F76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CA60C6-CD7D-554C-96B0-E36027B2D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716F515-6950-45D1-95EA-360C0BB3A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CBE2CCE-685D-2013-F549-EE7EBD0925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DBCCC95-C28E-1EEF-A339-D521BF76E8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5267325-E88E-A34F-6F13-2300E7D17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9DD3F41-0E95-7C5C-A641-E7EC8083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47E5A4-721D-C11A-02FD-549698B6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2964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1423D-FF4D-5467-22F4-39B171E46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67BCCB9-B553-0573-1A96-7AA9DD157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A72409B-AC3E-887E-5367-2115A34BE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1AAB58-4E6A-086A-A9BC-F7221049A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5343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B9D58E-E8EF-C494-5513-37D7E5769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02E4D50-9969-A201-4896-EF58835B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45538D-FF0B-C457-A204-2DAD286EE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4663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F49E2D-DF4A-D75E-7D42-A9C2C60CF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EDF0E7-47E9-9B7F-ABEC-E1B976C7D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171331-CBFA-B5A8-8ECC-3077F2F9D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C961B4-DB66-B57C-EA69-29DE5EDC8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E407AE8-C314-B59F-64E2-435DD35C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5AA9E5A-7406-0C7E-A90D-9AE372479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46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D043BB-098C-9A1E-4E1B-546AB6F64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1C4293-2CDA-4EF2-B3C3-71AFE026A6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606E681-C1FA-7FF7-7C4A-3B5B9E6765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94E16D-1A12-F13E-5A95-458843774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D13F01-2E8C-32AA-6606-BB2944919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730E64-9932-FAA7-1040-2AF20A0B7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1248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CCE0A0-04E8-2163-EAC0-F5C274583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89359F-465C-7917-95E5-D5938FA9A2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2269D2-02FF-EE64-8C66-AFFD28242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179152-081B-5953-033D-E285A1480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52D44E-C5B6-033C-D800-33A297444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1033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FFA09F6-355B-8F94-C1EF-84F811EAF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50ABA4B-3552-5319-A36D-B5FF406B1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DCB795-732E-E164-8A35-9D305AA0F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364A7B-7FA7-438E-C76E-9F4E4E6BA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41803C-0980-EB26-A260-02383E7C9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2714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64B3D1D-CC14-7603-E8A9-5C9F6916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2CE168-D9F8-791D-E268-D4AEF04D4B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43A2A9-626F-6E7E-0DAB-B6FDF5EA55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45014-0F33-4EC0-A353-D831A2E212C9}" type="datetimeFigureOut">
              <a:rPr kumimoji="1" lang="ja-JP" altLang="en-US" smtClean="0"/>
              <a:t>2025/5/26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D10B09-A132-AD6B-9785-D596A79F1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5EC216-DF03-8081-47CC-271A597A5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F86E4B-BF76-4F31-B06F-BE8EBB69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0095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3A4300-5D5E-0CD6-8969-C515A67E5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Resat</a:t>
            </a:r>
            <a:endParaRPr kumimoji="1" lang="ja-JP" altLang="en-US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48C7CE2-72B8-5655-18DA-2AA0DB5210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HGS明朝E" panose="02020900000000000000" pitchFamily="18" charset="-128"/>
                <a:ea typeface="HGS明朝E" panose="02020900000000000000" pitchFamily="18" charset="-128"/>
              </a:rPr>
              <a:t>劇団抜きにくい釘 チケット予約システム</a:t>
            </a:r>
            <a:endParaRPr kumimoji="1" lang="ja-JP" altLang="en-US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136ED0E3-7068-0FAA-4CFF-2E237C39F0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sp>
        <p:nvSpPr>
          <p:cNvPr id="5" name="フローチャート: 記憶データ 4">
            <a:extLst>
              <a:ext uri="{FF2B5EF4-FFF2-40B4-BE49-F238E27FC236}">
                <a16:creationId xmlns:a16="http://schemas.microsoft.com/office/drawing/2014/main" id="{F08829E5-1D92-5BB9-7073-09FDC11CCA45}"/>
              </a:ext>
            </a:extLst>
          </p:cNvPr>
          <p:cNvSpPr/>
          <p:nvPr/>
        </p:nvSpPr>
        <p:spPr>
          <a:xfrm>
            <a:off x="-3560323" y="0"/>
            <a:ext cx="6517532" cy="6858000"/>
          </a:xfrm>
          <a:prstGeom prst="flowChartOnlineStorage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609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4CF6B-1902-38B5-C8F5-C3B91D888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FC57F5B-A40F-0707-9EBC-5FEF7BB533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CBED2DDD-F65E-EEC2-8B1E-EC4D84851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698917B-F937-D09F-8D64-FDB7420B7158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A8E35D0-C026-BF07-91B0-149A023CF873}"/>
              </a:ext>
            </a:extLst>
          </p:cNvPr>
          <p:cNvSpPr txBox="1"/>
          <p:nvPr/>
        </p:nvSpPr>
        <p:spPr>
          <a:xfrm>
            <a:off x="208702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フロー概要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ACE4E19-390A-C57D-24A9-DBE64BF6B732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フロー概要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680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6D71-F137-82DD-F19D-2C6378F9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DF78DAF-C56C-1222-FA80-2A85322DD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9AE285BF-2CF1-6245-53AF-C9FF43D2C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AF86267-98D8-C577-F08C-6B8A3B6C57EB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9D16F8D-D455-4C0D-3C00-7850787A2EB6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9C5E51-B114-F547-6C1C-83EFB9C31439}"/>
              </a:ext>
            </a:extLst>
          </p:cNvPr>
          <p:cNvSpPr/>
          <p:nvPr/>
        </p:nvSpPr>
        <p:spPr>
          <a:xfrm>
            <a:off x="431828" y="4900559"/>
            <a:ext cx="2444486" cy="1689907"/>
          </a:xfrm>
          <a:prstGeom prst="rect">
            <a:avLst/>
          </a:prstGeom>
          <a:solidFill>
            <a:srgbClr val="FFFF00"/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100" dirty="0">
                <a:solidFill>
                  <a:schemeClr val="tx1"/>
                </a:solidFill>
              </a:rPr>
              <a:t>セッション変数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userSession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defStSession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endParaRPr lang="en-US" altLang="ja-JP" sz="1100" dirty="0">
              <a:solidFill>
                <a:schemeClr val="tx1"/>
              </a:solidFill>
            </a:endParaRPr>
          </a:p>
          <a:p>
            <a:r>
              <a:rPr lang="ja-JP" altLang="en-US" sz="1100" dirty="0">
                <a:solidFill>
                  <a:schemeClr val="tx1"/>
                </a:solidFill>
              </a:rPr>
              <a:t>モード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sysUser</a:t>
            </a:r>
            <a:r>
              <a:rPr lang="ja-JP" altLang="en-US" sz="1100" dirty="0">
                <a:solidFill>
                  <a:schemeClr val="tx1"/>
                </a:solidFill>
              </a:rPr>
              <a:t>（管理者）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custUser</a:t>
            </a:r>
            <a:r>
              <a:rPr lang="ja-JP" altLang="en-US" sz="1100" dirty="0">
                <a:solidFill>
                  <a:schemeClr val="tx1"/>
                </a:solidFill>
              </a:rPr>
              <a:t>（予約者）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doubleUser</a:t>
            </a:r>
            <a:r>
              <a:rPr lang="ja-JP" altLang="en-US" sz="1100" dirty="0">
                <a:solidFill>
                  <a:schemeClr val="tx1"/>
                </a:solidFill>
              </a:rPr>
              <a:t>（管理者・予約者）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8EF35B-6EB5-DF67-0F55-949936B254B9}"/>
              </a:ext>
            </a:extLst>
          </p:cNvPr>
          <p:cNvSpPr/>
          <p:nvPr/>
        </p:nvSpPr>
        <p:spPr>
          <a:xfrm>
            <a:off x="1050587" y="1838500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ベース</a:t>
            </a:r>
            <a:r>
              <a:rPr kumimoji="1" lang="en-US" altLang="ja-JP" sz="900" dirty="0">
                <a:solidFill>
                  <a:schemeClr val="tx1"/>
                </a:solidFill>
              </a:rPr>
              <a:t>URL</a:t>
            </a:r>
            <a:r>
              <a:rPr kumimoji="1" lang="ja-JP" altLang="en-US" sz="900" dirty="0">
                <a:solidFill>
                  <a:schemeClr val="tx1"/>
                </a:solidFill>
              </a:rPr>
              <a:t>にアクセス</a:t>
            </a:r>
            <a:endParaRPr kumimoji="1" lang="en-US" altLang="ja-JP" sz="900" dirty="0">
              <a:solidFill>
                <a:schemeClr val="tx1"/>
              </a:solidFill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4CAEF98-0646-C6F4-A04E-CF3D9846E48B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849571" y="2100110"/>
            <a:ext cx="66115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83FEFF5-D458-E8F4-EC04-7687A45D478D}"/>
              </a:ext>
            </a:extLst>
          </p:cNvPr>
          <p:cNvCxnSpPr>
            <a:cxnSpLocks/>
            <a:stCxn id="38" idx="3"/>
            <a:endCxn id="65" idx="1"/>
          </p:cNvCxnSpPr>
          <p:nvPr/>
        </p:nvCxnSpPr>
        <p:spPr>
          <a:xfrm flipV="1">
            <a:off x="5651161" y="3419407"/>
            <a:ext cx="3907337" cy="7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C2F66DB-6395-7FCB-9D3A-89B06AA62F5B}"/>
              </a:ext>
            </a:extLst>
          </p:cNvPr>
          <p:cNvSpPr/>
          <p:nvPr/>
        </p:nvSpPr>
        <p:spPr>
          <a:xfrm>
            <a:off x="3510726" y="1838500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ウェルカムページ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（予約者向け）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9C8C4CAB-84EE-0D7E-180A-0627D795C327}"/>
              </a:ext>
            </a:extLst>
          </p:cNvPr>
          <p:cNvCxnSpPr>
            <a:cxnSpLocks/>
            <a:stCxn id="92" idx="0"/>
            <a:endCxn id="85" idx="0"/>
          </p:cNvCxnSpPr>
          <p:nvPr/>
        </p:nvCxnSpPr>
        <p:spPr>
          <a:xfrm rot="16200000" flipV="1">
            <a:off x="5954059" y="3020439"/>
            <a:ext cx="115422" cy="3186121"/>
          </a:xfrm>
          <a:prstGeom prst="curvedConnector3">
            <a:avLst>
              <a:gd name="adj1" fmla="val 298056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7899597-3B75-CC62-E493-E32FE90BB516}"/>
              </a:ext>
            </a:extLst>
          </p:cNvPr>
          <p:cNvSpPr txBox="1"/>
          <p:nvPr/>
        </p:nvSpPr>
        <p:spPr>
          <a:xfrm>
            <a:off x="7201399" y="3135415"/>
            <a:ext cx="959942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ログイン実行</a:t>
            </a:r>
          </a:p>
        </p:txBody>
      </p:sp>
      <p:sp>
        <p:nvSpPr>
          <p:cNvPr id="38" name="フローチャート: 判断 37">
            <a:extLst>
              <a:ext uri="{FF2B5EF4-FFF2-40B4-BE49-F238E27FC236}">
                <a16:creationId xmlns:a16="http://schemas.microsoft.com/office/drawing/2014/main" id="{1A1B37D3-C47E-BC09-4334-CCF8FE5A72CF}"/>
              </a:ext>
            </a:extLst>
          </p:cNvPr>
          <p:cNvSpPr/>
          <p:nvPr/>
        </p:nvSpPr>
        <p:spPr>
          <a:xfrm>
            <a:off x="3186257" y="3035094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管理者ログインを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実行するか？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A01CB4A-A3ED-3EB5-B0AA-139E80C8A4AE}"/>
              </a:ext>
            </a:extLst>
          </p:cNvPr>
          <p:cNvCxnSpPr>
            <a:cxnSpLocks/>
            <a:stCxn id="18" idx="2"/>
            <a:endCxn id="38" idx="0"/>
          </p:cNvCxnSpPr>
          <p:nvPr/>
        </p:nvCxnSpPr>
        <p:spPr>
          <a:xfrm>
            <a:off x="4410218" y="2361720"/>
            <a:ext cx="8491" cy="6733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EF15407-2F21-4B4A-03FE-68F528B24D7B}"/>
              </a:ext>
            </a:extLst>
          </p:cNvPr>
          <p:cNvSpPr txBox="1"/>
          <p:nvPr/>
        </p:nvSpPr>
        <p:spPr>
          <a:xfrm>
            <a:off x="3510726" y="4065137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各種メニュー</a:t>
            </a: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AED93185-6162-367F-E515-1BA9B18657D8}"/>
              </a:ext>
            </a:extLst>
          </p:cNvPr>
          <p:cNvCxnSpPr>
            <a:cxnSpLocks/>
            <a:stCxn id="38" idx="2"/>
            <a:endCxn id="85" idx="0"/>
          </p:cNvCxnSpPr>
          <p:nvPr/>
        </p:nvCxnSpPr>
        <p:spPr>
          <a:xfrm>
            <a:off x="4418709" y="3805318"/>
            <a:ext cx="0" cy="75047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F510573A-0638-401B-F9BC-AC5791533494}"/>
              </a:ext>
            </a:extLst>
          </p:cNvPr>
          <p:cNvSpPr txBox="1"/>
          <p:nvPr/>
        </p:nvSpPr>
        <p:spPr>
          <a:xfrm>
            <a:off x="5692539" y="4648030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ログイン実行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960C6243-E284-FB16-9BCD-AC58912DA6CF}"/>
              </a:ext>
            </a:extLst>
          </p:cNvPr>
          <p:cNvSpPr/>
          <p:nvPr/>
        </p:nvSpPr>
        <p:spPr>
          <a:xfrm>
            <a:off x="9558498" y="3157797"/>
            <a:ext cx="1798984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ログインページ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（管理者）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85" name="フローチャート: 判断 84">
            <a:extLst>
              <a:ext uri="{FF2B5EF4-FFF2-40B4-BE49-F238E27FC236}">
                <a16:creationId xmlns:a16="http://schemas.microsoft.com/office/drawing/2014/main" id="{9298EA8D-D06C-A730-219C-61F1C0A929B1}"/>
              </a:ext>
            </a:extLst>
          </p:cNvPr>
          <p:cNvSpPr/>
          <p:nvPr/>
        </p:nvSpPr>
        <p:spPr>
          <a:xfrm>
            <a:off x="3186257" y="4555789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予約者ログインを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実行するか？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55534EDE-08C2-9FFA-2ECD-75A9AA5DE2ED}"/>
              </a:ext>
            </a:extLst>
          </p:cNvPr>
          <p:cNvSpPr/>
          <p:nvPr/>
        </p:nvSpPr>
        <p:spPr>
          <a:xfrm>
            <a:off x="6705338" y="4671211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ログインページ</a:t>
            </a:r>
            <a:br>
              <a:rPr kumimoji="1" lang="en-US" altLang="ja-JP" sz="900" dirty="0">
                <a:solidFill>
                  <a:schemeClr val="tx1"/>
                </a:solidFill>
              </a:rPr>
            </a:br>
            <a:r>
              <a:rPr kumimoji="1" lang="ja-JP" altLang="en-US" sz="900" dirty="0">
                <a:solidFill>
                  <a:schemeClr val="tx1"/>
                </a:solidFill>
              </a:rPr>
              <a:t>（予約者）</a:t>
            </a:r>
          </a:p>
        </p:txBody>
      </p: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8FA9991F-E547-530E-4C1A-22FEA3726D0B}"/>
              </a:ext>
            </a:extLst>
          </p:cNvPr>
          <p:cNvCxnSpPr>
            <a:cxnSpLocks/>
            <a:stCxn id="85" idx="3"/>
            <a:endCxn id="92" idx="1"/>
          </p:cNvCxnSpPr>
          <p:nvPr/>
        </p:nvCxnSpPr>
        <p:spPr>
          <a:xfrm flipV="1">
            <a:off x="5651161" y="4932821"/>
            <a:ext cx="1054177" cy="80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590B7474-7A4D-B05D-8178-C3020EE9829D}"/>
              </a:ext>
            </a:extLst>
          </p:cNvPr>
          <p:cNvCxnSpPr>
            <a:cxnSpLocks/>
            <a:stCxn id="92" idx="3"/>
            <a:endCxn id="103" idx="1"/>
          </p:cNvCxnSpPr>
          <p:nvPr/>
        </p:nvCxnSpPr>
        <p:spPr>
          <a:xfrm>
            <a:off x="8504322" y="4932821"/>
            <a:ext cx="1054176" cy="1428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D9AA40A6-C9DB-8C1A-8EA5-559305116927}"/>
              </a:ext>
            </a:extLst>
          </p:cNvPr>
          <p:cNvSpPr txBox="1"/>
          <p:nvPr/>
        </p:nvSpPr>
        <p:spPr>
          <a:xfrm>
            <a:off x="8594147" y="4648030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ログイン成功</a:t>
            </a: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8EA2A1E2-7129-8D03-2A6F-9F4025EB7CFE}"/>
              </a:ext>
            </a:extLst>
          </p:cNvPr>
          <p:cNvSpPr/>
          <p:nvPr/>
        </p:nvSpPr>
        <p:spPr>
          <a:xfrm>
            <a:off x="9558498" y="4685500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各種メニューページ</a:t>
            </a:r>
            <a:endParaRPr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（予約者）</a:t>
            </a:r>
            <a:endParaRPr kumimoji="1" lang="en-US" altLang="ja-JP" sz="900" dirty="0">
              <a:solidFill>
                <a:schemeClr val="tx1"/>
              </a:solidFill>
            </a:endParaRP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5625FBE9-3B78-7FE2-41E4-B55F8E5BB025}"/>
              </a:ext>
            </a:extLst>
          </p:cNvPr>
          <p:cNvSpPr txBox="1"/>
          <p:nvPr/>
        </p:nvSpPr>
        <p:spPr>
          <a:xfrm>
            <a:off x="5684618" y="4011323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ログイン失敗</a:t>
            </a:r>
          </a:p>
        </p:txBody>
      </p:sp>
      <p:cxnSp>
        <p:nvCxnSpPr>
          <p:cNvPr id="110" name="直線矢印コネクタ 109">
            <a:extLst>
              <a:ext uri="{FF2B5EF4-FFF2-40B4-BE49-F238E27FC236}">
                <a16:creationId xmlns:a16="http://schemas.microsoft.com/office/drawing/2014/main" id="{B88EDBC0-7BA8-8693-BEA3-43BE8DB73140}"/>
              </a:ext>
            </a:extLst>
          </p:cNvPr>
          <p:cNvCxnSpPr>
            <a:cxnSpLocks/>
            <a:stCxn id="103" idx="2"/>
            <a:endCxn id="114" idx="0"/>
          </p:cNvCxnSpPr>
          <p:nvPr/>
        </p:nvCxnSpPr>
        <p:spPr>
          <a:xfrm>
            <a:off x="10457990" y="5208720"/>
            <a:ext cx="0" cy="6144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B774EC33-EA5F-B844-A0F8-423F7679E46F}"/>
              </a:ext>
            </a:extLst>
          </p:cNvPr>
          <p:cNvSpPr/>
          <p:nvPr/>
        </p:nvSpPr>
        <p:spPr>
          <a:xfrm>
            <a:off x="9558498" y="5823169"/>
            <a:ext cx="1798984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各種メニューページ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（管理者）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22" name="テキスト ボックス 121">
            <a:extLst>
              <a:ext uri="{FF2B5EF4-FFF2-40B4-BE49-F238E27FC236}">
                <a16:creationId xmlns:a16="http://schemas.microsoft.com/office/drawing/2014/main" id="{056F0EA6-0666-B265-424E-6F5065B5EFB3}"/>
              </a:ext>
            </a:extLst>
          </p:cNvPr>
          <p:cNvSpPr txBox="1"/>
          <p:nvPr/>
        </p:nvSpPr>
        <p:spPr>
          <a:xfrm>
            <a:off x="8972739" y="5400528"/>
            <a:ext cx="144737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管理者アカウントへ切替</a:t>
            </a:r>
          </a:p>
        </p:txBody>
      </p:sp>
      <p:cxnSp>
        <p:nvCxnSpPr>
          <p:cNvPr id="124" name="コネクタ: 曲線 123">
            <a:extLst>
              <a:ext uri="{FF2B5EF4-FFF2-40B4-BE49-F238E27FC236}">
                <a16:creationId xmlns:a16="http://schemas.microsoft.com/office/drawing/2014/main" id="{1E79892A-4172-598E-3CD3-493D73B6F578}"/>
              </a:ext>
            </a:extLst>
          </p:cNvPr>
          <p:cNvCxnSpPr>
            <a:cxnSpLocks/>
            <a:stCxn id="103" idx="0"/>
            <a:endCxn id="65" idx="1"/>
          </p:cNvCxnSpPr>
          <p:nvPr/>
        </p:nvCxnSpPr>
        <p:spPr>
          <a:xfrm rot="16200000" flipV="1">
            <a:off x="9375198" y="3602708"/>
            <a:ext cx="1266093" cy="899492"/>
          </a:xfrm>
          <a:prstGeom prst="curvedConnector4">
            <a:avLst>
              <a:gd name="adj1" fmla="val 39669"/>
              <a:gd name="adj2" fmla="val 125414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956A0C26-8989-0BCA-C039-492C60E3698F}"/>
              </a:ext>
            </a:extLst>
          </p:cNvPr>
          <p:cNvSpPr txBox="1"/>
          <p:nvPr/>
        </p:nvSpPr>
        <p:spPr>
          <a:xfrm>
            <a:off x="8330453" y="3906712"/>
            <a:ext cx="959942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ログイン実行</a:t>
            </a:r>
          </a:p>
        </p:txBody>
      </p:sp>
      <p:sp>
        <p:nvSpPr>
          <p:cNvPr id="128" name="吹き出し: 線 127">
            <a:extLst>
              <a:ext uri="{FF2B5EF4-FFF2-40B4-BE49-F238E27FC236}">
                <a16:creationId xmlns:a16="http://schemas.microsoft.com/office/drawing/2014/main" id="{47037F5C-8FED-06E3-05C1-1B5E9A4A2D46}"/>
              </a:ext>
            </a:extLst>
          </p:cNvPr>
          <p:cNvSpPr/>
          <p:nvPr/>
        </p:nvSpPr>
        <p:spPr>
          <a:xfrm>
            <a:off x="6381449" y="5870809"/>
            <a:ext cx="1636242" cy="523220"/>
          </a:xfrm>
          <a:prstGeom prst="borderCallout1">
            <a:avLst>
              <a:gd name="adj1" fmla="val 9998"/>
              <a:gd name="adj2" fmla="val 110892"/>
              <a:gd name="adj3" fmla="val -49924"/>
              <a:gd name="adj4" fmla="val 161269"/>
            </a:avLst>
          </a:prstGeom>
          <a:solidFill>
            <a:srgbClr val="FFFF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900" dirty="0">
                <a:solidFill>
                  <a:schemeClr val="tx1"/>
                </a:solidFill>
              </a:rPr>
              <a:t>【</a:t>
            </a:r>
            <a:r>
              <a:rPr kumimoji="1" lang="ja-JP" altLang="en-US" sz="900" dirty="0">
                <a:solidFill>
                  <a:schemeClr val="tx1"/>
                </a:solidFill>
              </a:rPr>
              <a:t>条件</a:t>
            </a:r>
            <a:r>
              <a:rPr kumimoji="1" lang="en-US" altLang="ja-JP" sz="900" dirty="0">
                <a:solidFill>
                  <a:schemeClr val="tx1"/>
                </a:solidFill>
              </a:rPr>
              <a:t>】</a:t>
            </a: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モードが </a:t>
            </a:r>
            <a:r>
              <a:rPr kumimoji="1" lang="en-US" altLang="ja-JP" sz="900" dirty="0" err="1">
                <a:solidFill>
                  <a:schemeClr val="tx1"/>
                </a:solidFill>
              </a:rPr>
              <a:t>doubleUser</a:t>
            </a:r>
            <a:r>
              <a:rPr kumimoji="1" lang="en-US" altLang="ja-JP" sz="900" dirty="0">
                <a:solidFill>
                  <a:schemeClr val="tx1"/>
                </a:solidFill>
              </a:rPr>
              <a:t> </a:t>
            </a:r>
            <a:r>
              <a:rPr kumimoji="1" lang="ja-JP" altLang="en-US" sz="900" dirty="0">
                <a:solidFill>
                  <a:schemeClr val="tx1"/>
                </a:solidFill>
              </a:rPr>
              <a:t>で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あること</a:t>
            </a:r>
          </a:p>
        </p:txBody>
      </p:sp>
      <p:sp>
        <p:nvSpPr>
          <p:cNvPr id="129" name="吹き出し: 線 128">
            <a:extLst>
              <a:ext uri="{FF2B5EF4-FFF2-40B4-BE49-F238E27FC236}">
                <a16:creationId xmlns:a16="http://schemas.microsoft.com/office/drawing/2014/main" id="{8FDF50B8-4A3B-99C8-A006-348B0B90A88D}"/>
              </a:ext>
            </a:extLst>
          </p:cNvPr>
          <p:cNvSpPr/>
          <p:nvPr/>
        </p:nvSpPr>
        <p:spPr>
          <a:xfrm>
            <a:off x="6096000" y="2163482"/>
            <a:ext cx="1636242" cy="523220"/>
          </a:xfrm>
          <a:prstGeom prst="borderCallout1">
            <a:avLst>
              <a:gd name="adj1" fmla="val 9998"/>
              <a:gd name="adj2" fmla="val 110892"/>
              <a:gd name="adj3" fmla="val 327602"/>
              <a:gd name="adj4" fmla="val 187136"/>
            </a:avLst>
          </a:prstGeom>
          <a:solidFill>
            <a:srgbClr val="FFFF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900" dirty="0">
                <a:solidFill>
                  <a:schemeClr val="tx1"/>
                </a:solidFill>
              </a:rPr>
              <a:t>【</a:t>
            </a:r>
            <a:r>
              <a:rPr kumimoji="1" lang="ja-JP" altLang="en-US" sz="900" dirty="0">
                <a:solidFill>
                  <a:schemeClr val="tx1"/>
                </a:solidFill>
              </a:rPr>
              <a:t>条件</a:t>
            </a:r>
            <a:r>
              <a:rPr kumimoji="1" lang="en-US" altLang="ja-JP" sz="900" dirty="0">
                <a:solidFill>
                  <a:schemeClr val="tx1"/>
                </a:solidFill>
              </a:rPr>
              <a:t>】</a:t>
            </a: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モードが </a:t>
            </a:r>
            <a:r>
              <a:rPr lang="en-US" altLang="ja-JP" sz="900" dirty="0" err="1">
                <a:solidFill>
                  <a:schemeClr val="tx1"/>
                </a:solidFill>
              </a:rPr>
              <a:t>sysUser</a:t>
            </a:r>
            <a:r>
              <a:rPr kumimoji="1" lang="en-US" altLang="ja-JP" sz="900" dirty="0">
                <a:solidFill>
                  <a:schemeClr val="tx1"/>
                </a:solidFill>
              </a:rPr>
              <a:t> </a:t>
            </a:r>
            <a:r>
              <a:rPr kumimoji="1" lang="ja-JP" altLang="en-US" sz="900" dirty="0">
                <a:solidFill>
                  <a:schemeClr val="tx1"/>
                </a:solidFill>
              </a:rPr>
              <a:t>で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ある場合</a:t>
            </a:r>
          </a:p>
        </p:txBody>
      </p:sp>
      <p:cxnSp>
        <p:nvCxnSpPr>
          <p:cNvPr id="130" name="コネクタ: 曲線 129">
            <a:extLst>
              <a:ext uri="{FF2B5EF4-FFF2-40B4-BE49-F238E27FC236}">
                <a16:creationId xmlns:a16="http://schemas.microsoft.com/office/drawing/2014/main" id="{F7361E4B-04EB-0D85-74CE-551D39D8C7FF}"/>
              </a:ext>
            </a:extLst>
          </p:cNvPr>
          <p:cNvCxnSpPr>
            <a:cxnSpLocks/>
            <a:stCxn id="92" idx="2"/>
            <a:endCxn id="18" idx="1"/>
          </p:cNvCxnSpPr>
          <p:nvPr/>
        </p:nvCxnSpPr>
        <p:spPr>
          <a:xfrm rot="5400000" flipH="1">
            <a:off x="4010617" y="1600219"/>
            <a:ext cx="3094321" cy="4094104"/>
          </a:xfrm>
          <a:prstGeom prst="curvedConnector4">
            <a:avLst>
              <a:gd name="adj1" fmla="val -19384"/>
              <a:gd name="adj2" fmla="val 12371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テキスト ボックス 140">
            <a:extLst>
              <a:ext uri="{FF2B5EF4-FFF2-40B4-BE49-F238E27FC236}">
                <a16:creationId xmlns:a16="http://schemas.microsoft.com/office/drawing/2014/main" id="{8644F9BA-BC2E-935C-B592-E97443C31E6F}"/>
              </a:ext>
            </a:extLst>
          </p:cNvPr>
          <p:cNvSpPr txBox="1"/>
          <p:nvPr/>
        </p:nvSpPr>
        <p:spPr>
          <a:xfrm>
            <a:off x="1586108" y="3805318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戻る</a:t>
            </a:r>
          </a:p>
        </p:txBody>
      </p:sp>
      <p:sp>
        <p:nvSpPr>
          <p:cNvPr id="6" name="吹き出し: 線 5">
            <a:extLst>
              <a:ext uri="{FF2B5EF4-FFF2-40B4-BE49-F238E27FC236}">
                <a16:creationId xmlns:a16="http://schemas.microsoft.com/office/drawing/2014/main" id="{3D646AAF-B77F-B4E0-7D38-2C167C9C0C7E}"/>
              </a:ext>
            </a:extLst>
          </p:cNvPr>
          <p:cNvSpPr/>
          <p:nvPr/>
        </p:nvSpPr>
        <p:spPr>
          <a:xfrm>
            <a:off x="569660" y="2857825"/>
            <a:ext cx="1636242" cy="523220"/>
          </a:xfrm>
          <a:prstGeom prst="borderCallout1">
            <a:avLst>
              <a:gd name="adj1" fmla="val 9998"/>
              <a:gd name="adj2" fmla="val 110892"/>
              <a:gd name="adj3" fmla="val 74973"/>
              <a:gd name="adj4" fmla="val 186030"/>
            </a:avLst>
          </a:prstGeom>
          <a:solidFill>
            <a:srgbClr val="FFFF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900" dirty="0">
                <a:solidFill>
                  <a:schemeClr val="tx1"/>
                </a:solidFill>
              </a:rPr>
              <a:t>システム初期稼働段階では</a:t>
            </a:r>
            <a:endParaRPr lang="en-US" altLang="ja-JP" sz="900" dirty="0">
              <a:solidFill>
                <a:schemeClr val="tx1"/>
              </a:solidFill>
            </a:endParaRPr>
          </a:p>
          <a:p>
            <a:r>
              <a:rPr kumimoji="1" lang="ja-JP" altLang="en-US" sz="900" dirty="0">
                <a:solidFill>
                  <a:schemeClr val="tx1"/>
                </a:solidFill>
              </a:rPr>
              <a:t>スキップ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en-US" altLang="ja-JP" sz="900" dirty="0">
                <a:solidFill>
                  <a:schemeClr val="tx1"/>
                </a:solidFill>
              </a:rPr>
              <a:t>※</a:t>
            </a:r>
            <a:r>
              <a:rPr lang="ja-JP" altLang="en-US" sz="900" dirty="0">
                <a:solidFill>
                  <a:schemeClr val="tx1"/>
                </a:solidFill>
              </a:rPr>
              <a:t>管理者</a:t>
            </a:r>
            <a:r>
              <a:rPr lang="en-US" altLang="ja-JP" sz="900" dirty="0">
                <a:solidFill>
                  <a:schemeClr val="tx1"/>
                </a:solidFill>
              </a:rPr>
              <a:t>URL</a:t>
            </a:r>
            <a:r>
              <a:rPr lang="ja-JP" altLang="en-US" sz="900" dirty="0">
                <a:solidFill>
                  <a:schemeClr val="tx1"/>
                </a:solidFill>
              </a:rPr>
              <a:t>は紹介のみ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502CA9-D056-1EF9-EDF8-CDDD6117B9EE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フロー概要（</a:t>
            </a:r>
            <a:r>
              <a:rPr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ファーストアクセス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576229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672AA-CD5F-0422-944B-8D9B37C5D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7F010E23-51D6-C1FC-728E-1D376C279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1D7553C7-1C37-8A93-D41D-FE779B8DC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C51F973-DE5E-9CCF-9370-F6D30857AB7D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82C9F87-4181-D2EE-8DBB-7EEDD1075042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D67CE1-7C75-5ED7-7DC3-2F1338D44402}"/>
              </a:ext>
            </a:extLst>
          </p:cNvPr>
          <p:cNvSpPr/>
          <p:nvPr/>
        </p:nvSpPr>
        <p:spPr>
          <a:xfrm>
            <a:off x="431828" y="4900559"/>
            <a:ext cx="2444486" cy="1689907"/>
          </a:xfrm>
          <a:prstGeom prst="rect">
            <a:avLst/>
          </a:prstGeom>
          <a:solidFill>
            <a:srgbClr val="FFFF00"/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100" dirty="0">
                <a:solidFill>
                  <a:schemeClr val="tx1"/>
                </a:solidFill>
              </a:rPr>
              <a:t>セッション変数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userSession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defStSession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endParaRPr lang="en-US" altLang="ja-JP" sz="1100" dirty="0">
              <a:solidFill>
                <a:schemeClr val="tx1"/>
              </a:solidFill>
            </a:endParaRPr>
          </a:p>
          <a:p>
            <a:r>
              <a:rPr lang="ja-JP" altLang="en-US" sz="1100" dirty="0">
                <a:solidFill>
                  <a:schemeClr val="tx1"/>
                </a:solidFill>
              </a:rPr>
              <a:t>モード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sysUser</a:t>
            </a:r>
            <a:r>
              <a:rPr lang="ja-JP" altLang="en-US" sz="1100" dirty="0">
                <a:solidFill>
                  <a:schemeClr val="tx1"/>
                </a:solidFill>
              </a:rPr>
              <a:t>（管理者）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custUser</a:t>
            </a:r>
            <a:r>
              <a:rPr lang="ja-JP" altLang="en-US" sz="1100" dirty="0">
                <a:solidFill>
                  <a:schemeClr val="tx1"/>
                </a:solidFill>
              </a:rPr>
              <a:t>（予約者）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doubleUser</a:t>
            </a:r>
            <a:r>
              <a:rPr lang="ja-JP" altLang="en-US" sz="1100" dirty="0">
                <a:solidFill>
                  <a:schemeClr val="tx1"/>
                </a:solidFill>
              </a:rPr>
              <a:t>（管理者・予約者）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ADF1AEC-36C4-6220-57C4-600F69767D36}"/>
              </a:ext>
            </a:extLst>
          </p:cNvPr>
          <p:cNvSpPr/>
          <p:nvPr/>
        </p:nvSpPr>
        <p:spPr>
          <a:xfrm>
            <a:off x="1050587" y="1838500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システム</a:t>
            </a:r>
            <a:r>
              <a:rPr kumimoji="1" lang="en-US" altLang="ja-JP" sz="900" dirty="0">
                <a:solidFill>
                  <a:schemeClr val="tx1"/>
                </a:solidFill>
              </a:rPr>
              <a:t>URL</a:t>
            </a:r>
            <a:r>
              <a:rPr kumimoji="1" lang="ja-JP" altLang="en-US" sz="900" dirty="0">
                <a:solidFill>
                  <a:schemeClr val="tx1"/>
                </a:solidFill>
              </a:rPr>
              <a:t>にアクセス</a:t>
            </a:r>
          </a:p>
        </p:txBody>
      </p:sp>
      <p:sp>
        <p:nvSpPr>
          <p:cNvPr id="7" name="フローチャート: 判断 6">
            <a:extLst>
              <a:ext uri="{FF2B5EF4-FFF2-40B4-BE49-F238E27FC236}">
                <a16:creationId xmlns:a16="http://schemas.microsoft.com/office/drawing/2014/main" id="{574076E3-426F-06C5-294C-C534AE64A27B}"/>
              </a:ext>
            </a:extLst>
          </p:cNvPr>
          <p:cNvSpPr/>
          <p:nvPr/>
        </p:nvSpPr>
        <p:spPr>
          <a:xfrm>
            <a:off x="3744298" y="1714998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セッションにログイン情報はあるか？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15F6FB7B-CBA4-EDC6-F19A-CCAE20295FD1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2849571" y="2100110"/>
            <a:ext cx="89472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BAFBAF-EB80-BE36-3F46-DCA6D2AA2231}"/>
              </a:ext>
            </a:extLst>
          </p:cNvPr>
          <p:cNvSpPr/>
          <p:nvPr/>
        </p:nvSpPr>
        <p:spPr>
          <a:xfrm>
            <a:off x="7247478" y="1843913"/>
            <a:ext cx="1798984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各種ページ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（予約者、管理者）</a:t>
            </a:r>
            <a:endParaRPr kumimoji="1" lang="en-US" altLang="ja-JP" sz="900" dirty="0">
              <a:solidFill>
                <a:schemeClr val="tx1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A328D42-B5AE-30AD-A5D4-54A8D90F1EF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09202" y="2100110"/>
            <a:ext cx="1038276" cy="54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47FF583-3E2E-8A80-5EF7-1F0DC3C0A459}"/>
              </a:ext>
            </a:extLst>
          </p:cNvPr>
          <p:cNvSpPr/>
          <p:nvPr/>
        </p:nvSpPr>
        <p:spPr>
          <a:xfrm>
            <a:off x="4077258" y="3235010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ログインページ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DD72B9C2-9EB5-94E5-7E4D-E2563FC57631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>
            <a:off x="4976750" y="2485222"/>
            <a:ext cx="0" cy="7497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D2A0EB2A-9FFB-27D1-EDAC-5148218017DE}"/>
              </a:ext>
            </a:extLst>
          </p:cNvPr>
          <p:cNvCxnSpPr>
            <a:stCxn id="18" idx="1"/>
            <a:endCxn id="7" idx="1"/>
          </p:cNvCxnSpPr>
          <p:nvPr/>
        </p:nvCxnSpPr>
        <p:spPr>
          <a:xfrm rot="10800000">
            <a:off x="3744298" y="2100110"/>
            <a:ext cx="332960" cy="1396510"/>
          </a:xfrm>
          <a:prstGeom prst="curvedConnector3">
            <a:avLst>
              <a:gd name="adj1" fmla="val 16865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83AB9DF-30E4-31A5-43F7-E322AD859741}"/>
              </a:ext>
            </a:extLst>
          </p:cNvPr>
          <p:cNvSpPr txBox="1"/>
          <p:nvPr/>
        </p:nvSpPr>
        <p:spPr>
          <a:xfrm>
            <a:off x="4362688" y="2686949"/>
            <a:ext cx="536713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ない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DB373871-D2B2-90DD-C351-202ACE773E79}"/>
              </a:ext>
            </a:extLst>
          </p:cNvPr>
          <p:cNvSpPr txBox="1"/>
          <p:nvPr/>
        </p:nvSpPr>
        <p:spPr>
          <a:xfrm>
            <a:off x="6436982" y="1838500"/>
            <a:ext cx="536713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ある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8ABAA54-5A2B-1F6E-C04B-1C9234F7449A}"/>
              </a:ext>
            </a:extLst>
          </p:cNvPr>
          <p:cNvSpPr txBox="1"/>
          <p:nvPr/>
        </p:nvSpPr>
        <p:spPr>
          <a:xfrm>
            <a:off x="2600347" y="2942588"/>
            <a:ext cx="8947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ログイン失敗</a:t>
            </a:r>
          </a:p>
        </p:txBody>
      </p:sp>
      <p:sp>
        <p:nvSpPr>
          <p:cNvPr id="38" name="フローチャート: 判断 37">
            <a:extLst>
              <a:ext uri="{FF2B5EF4-FFF2-40B4-BE49-F238E27FC236}">
                <a16:creationId xmlns:a16="http://schemas.microsoft.com/office/drawing/2014/main" id="{C5681D35-7CBB-0A94-8A8D-130A3FCD16BA}"/>
              </a:ext>
            </a:extLst>
          </p:cNvPr>
          <p:cNvSpPr/>
          <p:nvPr/>
        </p:nvSpPr>
        <p:spPr>
          <a:xfrm>
            <a:off x="3744298" y="4508016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ユーザー登録情報に応じて処理が分岐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8975A67B-6C92-01D2-A4EE-94882D78E066}"/>
              </a:ext>
            </a:extLst>
          </p:cNvPr>
          <p:cNvCxnSpPr>
            <a:cxnSpLocks/>
            <a:stCxn id="18" idx="2"/>
            <a:endCxn id="38" idx="0"/>
          </p:cNvCxnSpPr>
          <p:nvPr/>
        </p:nvCxnSpPr>
        <p:spPr>
          <a:xfrm>
            <a:off x="4976750" y="3758230"/>
            <a:ext cx="0" cy="749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8937C3E-3159-1E98-0770-3A74CAE7D00C}"/>
              </a:ext>
            </a:extLst>
          </p:cNvPr>
          <p:cNvSpPr txBox="1"/>
          <p:nvPr/>
        </p:nvSpPr>
        <p:spPr>
          <a:xfrm>
            <a:off x="4003463" y="4074878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ログイン成功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BD370C0-C1EC-A073-A0D6-5DBC6A1C499A}"/>
              </a:ext>
            </a:extLst>
          </p:cNvPr>
          <p:cNvSpPr/>
          <p:nvPr/>
        </p:nvSpPr>
        <p:spPr>
          <a:xfrm>
            <a:off x="9760500" y="3679900"/>
            <a:ext cx="1798984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各種メニューページ</a:t>
            </a:r>
            <a:endParaRPr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（予約者）</a:t>
            </a:r>
            <a:endParaRPr kumimoji="1" lang="en-US" altLang="ja-JP" sz="900" dirty="0">
              <a:solidFill>
                <a:schemeClr val="tx1"/>
              </a:solidFill>
            </a:endParaRPr>
          </a:p>
        </p:txBody>
      </p:sp>
      <p:sp>
        <p:nvSpPr>
          <p:cNvPr id="45" name="フローチャート: 端子 44">
            <a:extLst>
              <a:ext uri="{FF2B5EF4-FFF2-40B4-BE49-F238E27FC236}">
                <a16:creationId xmlns:a16="http://schemas.microsoft.com/office/drawing/2014/main" id="{E5E3B025-EED6-0687-D71E-7554E76E73C8}"/>
              </a:ext>
            </a:extLst>
          </p:cNvPr>
          <p:cNvSpPr/>
          <p:nvPr/>
        </p:nvSpPr>
        <p:spPr>
          <a:xfrm>
            <a:off x="9760500" y="5502434"/>
            <a:ext cx="1798984" cy="523220"/>
          </a:xfrm>
          <a:prstGeom prst="flowChartTerminator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公演参加状況確認フローへ</a:t>
            </a:r>
            <a:br>
              <a:rPr kumimoji="1" lang="en-US" altLang="ja-JP" sz="900" dirty="0">
                <a:solidFill>
                  <a:schemeClr val="tx1"/>
                </a:solidFill>
              </a:rPr>
            </a:br>
            <a:r>
              <a:rPr kumimoji="1" lang="ja-JP" altLang="en-US" sz="900" dirty="0">
                <a:solidFill>
                  <a:schemeClr val="tx1"/>
                </a:solidFill>
              </a:rPr>
              <a:t>（管理者）</a:t>
            </a: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92873DC5-CCB6-D3E1-6E9A-69B2D74AFC1C}"/>
              </a:ext>
            </a:extLst>
          </p:cNvPr>
          <p:cNvCxnSpPr>
            <a:cxnSpLocks/>
            <a:stCxn id="38" idx="3"/>
            <a:endCxn id="6" idx="1"/>
          </p:cNvCxnSpPr>
          <p:nvPr/>
        </p:nvCxnSpPr>
        <p:spPr>
          <a:xfrm>
            <a:off x="6209202" y="4893128"/>
            <a:ext cx="82210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E93423FC-7A8E-3B2A-B375-D0FF208F4B7A}"/>
              </a:ext>
            </a:extLst>
          </p:cNvPr>
          <p:cNvCxnSpPr>
            <a:stCxn id="38" idx="3"/>
            <a:endCxn id="43" idx="1"/>
          </p:cNvCxnSpPr>
          <p:nvPr/>
        </p:nvCxnSpPr>
        <p:spPr>
          <a:xfrm flipV="1">
            <a:off x="6209202" y="3941510"/>
            <a:ext cx="3551298" cy="951618"/>
          </a:xfrm>
          <a:prstGeom prst="bentConnector3">
            <a:avLst>
              <a:gd name="adj1" fmla="val 10931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823E57F3-F95D-045E-AB4C-B1D00C970714}"/>
              </a:ext>
            </a:extLst>
          </p:cNvPr>
          <p:cNvSpPr txBox="1"/>
          <p:nvPr/>
        </p:nvSpPr>
        <p:spPr>
          <a:xfrm>
            <a:off x="7760444" y="3689879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予約者のみ</a:t>
            </a:r>
          </a:p>
        </p:txBody>
      </p:sp>
      <p:cxnSp>
        <p:nvCxnSpPr>
          <p:cNvPr id="55" name="コネクタ: カギ線 54">
            <a:extLst>
              <a:ext uri="{FF2B5EF4-FFF2-40B4-BE49-F238E27FC236}">
                <a16:creationId xmlns:a16="http://schemas.microsoft.com/office/drawing/2014/main" id="{5D4D7B6A-88CD-74C0-84F8-78AEB4B5E8D5}"/>
              </a:ext>
            </a:extLst>
          </p:cNvPr>
          <p:cNvCxnSpPr>
            <a:cxnSpLocks/>
            <a:stCxn id="38" idx="3"/>
            <a:endCxn id="45" idx="1"/>
          </p:cNvCxnSpPr>
          <p:nvPr/>
        </p:nvCxnSpPr>
        <p:spPr>
          <a:xfrm>
            <a:off x="6209202" y="4893128"/>
            <a:ext cx="3551298" cy="870916"/>
          </a:xfrm>
          <a:prstGeom prst="bentConnector3">
            <a:avLst>
              <a:gd name="adj1" fmla="val 1093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AB214016-4100-8E5A-4FB6-57B14600F993}"/>
              </a:ext>
            </a:extLst>
          </p:cNvPr>
          <p:cNvSpPr txBox="1"/>
          <p:nvPr/>
        </p:nvSpPr>
        <p:spPr>
          <a:xfrm>
            <a:off x="7760444" y="5795325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 dirty="0"/>
              <a:t>管理者</a:t>
            </a:r>
            <a:r>
              <a:rPr kumimoji="1" lang="ja-JP" altLang="en-US" sz="900" dirty="0"/>
              <a:t>のみ</a:t>
            </a:r>
          </a:p>
        </p:txBody>
      </p:sp>
      <p:cxnSp>
        <p:nvCxnSpPr>
          <p:cNvPr id="61" name="コネクタ: カギ線 60">
            <a:extLst>
              <a:ext uri="{FF2B5EF4-FFF2-40B4-BE49-F238E27FC236}">
                <a16:creationId xmlns:a16="http://schemas.microsoft.com/office/drawing/2014/main" id="{45EC074F-B9B1-0850-2E8D-D0752835E93B}"/>
              </a:ext>
            </a:extLst>
          </p:cNvPr>
          <p:cNvCxnSpPr>
            <a:cxnSpLocks/>
            <a:stCxn id="6" idx="3"/>
            <a:endCxn id="43" idx="2"/>
          </p:cNvCxnSpPr>
          <p:nvPr/>
        </p:nvCxnSpPr>
        <p:spPr>
          <a:xfrm flipV="1">
            <a:off x="9496208" y="4203120"/>
            <a:ext cx="1163784" cy="690008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F72EDB3A-BC33-73A6-C6A4-D77CE8D3EE71}"/>
              </a:ext>
            </a:extLst>
          </p:cNvPr>
          <p:cNvCxnSpPr>
            <a:cxnSpLocks/>
            <a:stCxn id="6" idx="3"/>
            <a:endCxn id="45" idx="0"/>
          </p:cNvCxnSpPr>
          <p:nvPr/>
        </p:nvCxnSpPr>
        <p:spPr>
          <a:xfrm>
            <a:off x="9496208" y="4893128"/>
            <a:ext cx="1163784" cy="6093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フローチャート: 判断 5">
            <a:extLst>
              <a:ext uri="{FF2B5EF4-FFF2-40B4-BE49-F238E27FC236}">
                <a16:creationId xmlns:a16="http://schemas.microsoft.com/office/drawing/2014/main" id="{C33C41F9-F4E5-6F73-4293-FA1C997A9110}"/>
              </a:ext>
            </a:extLst>
          </p:cNvPr>
          <p:cNvSpPr/>
          <p:nvPr/>
        </p:nvSpPr>
        <p:spPr>
          <a:xfrm>
            <a:off x="7031304" y="4508016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アクセス先予定は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どこなのか？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0CB94AC-F123-B3E3-C48B-7D87DB95B22A}"/>
              </a:ext>
            </a:extLst>
          </p:cNvPr>
          <p:cNvSpPr txBox="1"/>
          <p:nvPr/>
        </p:nvSpPr>
        <p:spPr>
          <a:xfrm>
            <a:off x="9708076" y="4471984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予約者ページ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EFEBFA3-8012-F853-353F-286944183475}"/>
              </a:ext>
            </a:extLst>
          </p:cNvPr>
          <p:cNvSpPr txBox="1"/>
          <p:nvPr/>
        </p:nvSpPr>
        <p:spPr>
          <a:xfrm>
            <a:off x="9708076" y="5120887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管理者ページ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2DD983CE-89DC-5920-95B6-4ADC4C667329}"/>
              </a:ext>
            </a:extLst>
          </p:cNvPr>
          <p:cNvSpPr txBox="1"/>
          <p:nvPr/>
        </p:nvSpPr>
        <p:spPr>
          <a:xfrm>
            <a:off x="6973695" y="4549953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両方登録済み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EAEE10-A81A-DEDA-6DEE-BD6DB0F5F64E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フロー概要（セッションチェック）</a:t>
            </a:r>
          </a:p>
        </p:txBody>
      </p:sp>
    </p:spTree>
    <p:extLst>
      <p:ext uri="{BB962C8B-B14F-4D97-AF65-F5344CB8AC3E}">
        <p14:creationId xmlns:p14="http://schemas.microsoft.com/office/powerpoint/2010/main" val="3031925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46342-613E-2630-9DF0-B8E157CB2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061E9197-91B3-08AC-DB7C-41C1647750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31EDCC08-6F3A-6D0E-F704-16BB9ACF12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8A96EF8-5115-07C4-7CDE-0D31F44E04BE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0AE4FA9-7032-CE35-F094-141A4C7E5146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645EABD-D1D9-4385-E92E-BE18D179186C}"/>
              </a:ext>
            </a:extLst>
          </p:cNvPr>
          <p:cNvSpPr/>
          <p:nvPr/>
        </p:nvSpPr>
        <p:spPr>
          <a:xfrm>
            <a:off x="431828" y="4900559"/>
            <a:ext cx="2444486" cy="1199467"/>
          </a:xfrm>
          <a:prstGeom prst="rect">
            <a:avLst/>
          </a:prstGeom>
          <a:solidFill>
            <a:srgbClr val="FFFF00"/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100" dirty="0">
                <a:solidFill>
                  <a:schemeClr val="tx1"/>
                </a:solidFill>
              </a:rPr>
              <a:t>セッション変数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defStSession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endParaRPr lang="en-US" altLang="ja-JP" sz="1100" dirty="0">
              <a:solidFill>
                <a:schemeClr val="tx1"/>
              </a:solidFill>
            </a:endParaRPr>
          </a:p>
          <a:p>
            <a:r>
              <a:rPr lang="ja-JP" altLang="en-US" sz="1100" dirty="0">
                <a:solidFill>
                  <a:schemeClr val="tx1"/>
                </a:solidFill>
              </a:rPr>
              <a:t>モード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sysUser</a:t>
            </a:r>
            <a:r>
              <a:rPr lang="ja-JP" altLang="en-US" sz="1100" dirty="0">
                <a:solidFill>
                  <a:schemeClr val="tx1"/>
                </a:solidFill>
              </a:rPr>
              <a:t>（管理者）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en-US" altLang="ja-JP" sz="1100" dirty="0" err="1">
                <a:solidFill>
                  <a:schemeClr val="tx1"/>
                </a:solidFill>
              </a:rPr>
              <a:t>doubleUser</a:t>
            </a:r>
            <a:r>
              <a:rPr lang="ja-JP" altLang="en-US" sz="1100" dirty="0">
                <a:solidFill>
                  <a:schemeClr val="tx1"/>
                </a:solidFill>
              </a:rPr>
              <a:t>（管理者・予約者）</a:t>
            </a:r>
            <a:endParaRPr lang="en-US" altLang="ja-JP" sz="1100" dirty="0">
              <a:solidFill>
                <a:schemeClr val="tx1"/>
              </a:solidFill>
            </a:endParaRPr>
          </a:p>
          <a:p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BC0AF4C-9530-6AFE-14AA-0AEE9827A421}"/>
              </a:ext>
            </a:extLst>
          </p:cNvPr>
          <p:cNvSpPr/>
          <p:nvPr/>
        </p:nvSpPr>
        <p:spPr>
          <a:xfrm>
            <a:off x="2876270" y="1586299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ログインページ</a:t>
            </a:r>
            <a:br>
              <a:rPr kumimoji="1" lang="en-US" altLang="ja-JP" sz="900" dirty="0">
                <a:solidFill>
                  <a:schemeClr val="tx1"/>
                </a:solidFill>
              </a:rPr>
            </a:br>
            <a:r>
              <a:rPr kumimoji="1" lang="ja-JP" altLang="en-US" sz="900" dirty="0">
                <a:solidFill>
                  <a:schemeClr val="tx1"/>
                </a:solidFill>
              </a:rPr>
              <a:t>（管理者）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D367148D-1C7E-1E23-A2C5-F500D7E4A50C}"/>
              </a:ext>
            </a:extLst>
          </p:cNvPr>
          <p:cNvCxnSpPr>
            <a:cxnSpLocks/>
            <a:stCxn id="18" idx="2"/>
            <a:endCxn id="17" idx="0"/>
          </p:cNvCxnSpPr>
          <p:nvPr/>
        </p:nvCxnSpPr>
        <p:spPr>
          <a:xfrm>
            <a:off x="3775762" y="2109519"/>
            <a:ext cx="1420746" cy="5169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フローチャート: 判断 16">
            <a:extLst>
              <a:ext uri="{FF2B5EF4-FFF2-40B4-BE49-F238E27FC236}">
                <a16:creationId xmlns:a16="http://schemas.microsoft.com/office/drawing/2014/main" id="{530B9AA6-A1FB-6CE1-EBC3-9B2D12F63A76}"/>
              </a:ext>
            </a:extLst>
          </p:cNvPr>
          <p:cNvSpPr/>
          <p:nvPr/>
        </p:nvSpPr>
        <p:spPr>
          <a:xfrm>
            <a:off x="3964056" y="2626474"/>
            <a:ext cx="2464904" cy="77022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参加している公演はあるか？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DB00525E-686E-7859-6F29-A0803F902C13}"/>
              </a:ext>
            </a:extLst>
          </p:cNvPr>
          <p:cNvSpPr/>
          <p:nvPr/>
        </p:nvSpPr>
        <p:spPr>
          <a:xfrm>
            <a:off x="9026841" y="2749979"/>
            <a:ext cx="1798984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各種メニューページ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（管理者）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DA81334F-5778-49DB-B710-0EF4A697E99A}"/>
              </a:ext>
            </a:extLst>
          </p:cNvPr>
          <p:cNvCxnSpPr>
            <a:cxnSpLocks/>
            <a:stCxn id="17" idx="3"/>
            <a:endCxn id="28" idx="1"/>
          </p:cNvCxnSpPr>
          <p:nvPr/>
        </p:nvCxnSpPr>
        <p:spPr>
          <a:xfrm>
            <a:off x="6428960" y="3011586"/>
            <a:ext cx="2597881" cy="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403F59F-27CC-5E76-6E69-21818DCB30F8}"/>
              </a:ext>
            </a:extLst>
          </p:cNvPr>
          <p:cNvSpPr/>
          <p:nvPr/>
        </p:nvSpPr>
        <p:spPr>
          <a:xfrm>
            <a:off x="4297016" y="4229351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公演ログインページ</a:t>
            </a:r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E3F034EA-71DB-A600-3DBA-E392EE3CDB59}"/>
              </a:ext>
            </a:extLst>
          </p:cNvPr>
          <p:cNvCxnSpPr>
            <a:cxnSpLocks/>
            <a:stCxn id="17" idx="2"/>
            <a:endCxn id="33" idx="0"/>
          </p:cNvCxnSpPr>
          <p:nvPr/>
        </p:nvCxnSpPr>
        <p:spPr>
          <a:xfrm>
            <a:off x="5196508" y="3396698"/>
            <a:ext cx="0" cy="8326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82C42B66-B852-BD19-651D-CB90092947B9}"/>
              </a:ext>
            </a:extLst>
          </p:cNvPr>
          <p:cNvSpPr txBox="1"/>
          <p:nvPr/>
        </p:nvSpPr>
        <p:spPr>
          <a:xfrm>
            <a:off x="7290637" y="2735020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 dirty="0"/>
              <a:t>ある</a:t>
            </a:r>
            <a:endParaRPr kumimoji="1" lang="ja-JP" altLang="en-US" sz="9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08E434F9-48E7-38BC-E1DF-B47FC551E9AB}"/>
              </a:ext>
            </a:extLst>
          </p:cNvPr>
          <p:cNvSpPr txBox="1"/>
          <p:nvPr/>
        </p:nvSpPr>
        <p:spPr>
          <a:xfrm>
            <a:off x="4270577" y="3659025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 dirty="0"/>
              <a:t>ない</a:t>
            </a:r>
            <a:endParaRPr kumimoji="1" lang="ja-JP" altLang="en-US" sz="900" dirty="0"/>
          </a:p>
        </p:txBody>
      </p:sp>
      <p:cxnSp>
        <p:nvCxnSpPr>
          <p:cNvPr id="53" name="コネクタ: 曲線 52">
            <a:extLst>
              <a:ext uri="{FF2B5EF4-FFF2-40B4-BE49-F238E27FC236}">
                <a16:creationId xmlns:a16="http://schemas.microsoft.com/office/drawing/2014/main" id="{11F8576D-2C50-AF35-9B62-6B298B39C2EE}"/>
              </a:ext>
            </a:extLst>
          </p:cNvPr>
          <p:cNvCxnSpPr>
            <a:cxnSpLocks/>
            <a:stCxn id="33" idx="1"/>
            <a:endCxn id="17" idx="1"/>
          </p:cNvCxnSpPr>
          <p:nvPr/>
        </p:nvCxnSpPr>
        <p:spPr>
          <a:xfrm rot="10800000">
            <a:off x="3964056" y="3011587"/>
            <a:ext cx="332960" cy="1479375"/>
          </a:xfrm>
          <a:prstGeom prst="curvedConnector3">
            <a:avLst>
              <a:gd name="adj1" fmla="val 16865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41F4A2B-8ADE-16B4-E38E-FB925CDC6D56}"/>
              </a:ext>
            </a:extLst>
          </p:cNvPr>
          <p:cNvSpPr txBox="1"/>
          <p:nvPr/>
        </p:nvSpPr>
        <p:spPr>
          <a:xfrm>
            <a:off x="2775228" y="3635858"/>
            <a:ext cx="8947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ログイン失敗</a:t>
            </a:r>
          </a:p>
        </p:txBody>
      </p:sp>
      <p:cxnSp>
        <p:nvCxnSpPr>
          <p:cNvPr id="59" name="コネクタ: 曲線 58">
            <a:extLst>
              <a:ext uri="{FF2B5EF4-FFF2-40B4-BE49-F238E27FC236}">
                <a16:creationId xmlns:a16="http://schemas.microsoft.com/office/drawing/2014/main" id="{646B25C9-69E3-7071-A7EF-9D3C74E18497}"/>
              </a:ext>
            </a:extLst>
          </p:cNvPr>
          <p:cNvCxnSpPr>
            <a:cxnSpLocks/>
            <a:stCxn id="33" idx="3"/>
            <a:endCxn id="28" idx="1"/>
          </p:cNvCxnSpPr>
          <p:nvPr/>
        </p:nvCxnSpPr>
        <p:spPr>
          <a:xfrm flipV="1">
            <a:off x="6096000" y="3011589"/>
            <a:ext cx="2930841" cy="1479372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87BD93C5-533B-8380-5116-ED18A15ED7C4}"/>
              </a:ext>
            </a:extLst>
          </p:cNvPr>
          <p:cNvSpPr txBox="1"/>
          <p:nvPr/>
        </p:nvSpPr>
        <p:spPr>
          <a:xfrm>
            <a:off x="6553576" y="3751274"/>
            <a:ext cx="8947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ログイン成功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4BBACB-06E1-261E-B120-E2C6B4F4471E}"/>
              </a:ext>
            </a:extLst>
          </p:cNvPr>
          <p:cNvSpPr txBox="1"/>
          <p:nvPr/>
        </p:nvSpPr>
        <p:spPr>
          <a:xfrm>
            <a:off x="10083272" y="1075375"/>
            <a:ext cx="1798984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ja-JP" sz="900" dirty="0"/>
              <a:t>※</a:t>
            </a:r>
            <a:r>
              <a:rPr lang="ja-JP" altLang="en-US" sz="900" dirty="0"/>
              <a:t>管理者ログイン時のフロー</a:t>
            </a:r>
            <a:endParaRPr kumimoji="1" lang="ja-JP" altLang="en-US" sz="9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B6F3CCB-08D7-2D21-58D7-82FD82A4F907}"/>
              </a:ext>
            </a:extLst>
          </p:cNvPr>
          <p:cNvSpPr/>
          <p:nvPr/>
        </p:nvSpPr>
        <p:spPr>
          <a:xfrm>
            <a:off x="5650370" y="1583895"/>
            <a:ext cx="179898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ログインページ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（セッション）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946BF86-432E-D7FB-44E2-21BE9E9C9B0C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 flipH="1">
            <a:off x="5196508" y="2107115"/>
            <a:ext cx="1353354" cy="51935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DFF73CB9-CAA9-AF07-9A52-81ACAEA080D9}"/>
              </a:ext>
            </a:extLst>
          </p:cNvPr>
          <p:cNvSpPr txBox="1"/>
          <p:nvPr/>
        </p:nvSpPr>
        <p:spPr>
          <a:xfrm>
            <a:off x="4754142" y="2249448"/>
            <a:ext cx="8745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ログイン成功</a:t>
            </a:r>
          </a:p>
        </p:txBody>
      </p:sp>
      <p:cxnSp>
        <p:nvCxnSpPr>
          <p:cNvPr id="45" name="コネクタ: 曲線 44">
            <a:extLst>
              <a:ext uri="{FF2B5EF4-FFF2-40B4-BE49-F238E27FC236}">
                <a16:creationId xmlns:a16="http://schemas.microsoft.com/office/drawing/2014/main" id="{844577EA-0B8C-7940-BBDA-4F71AA55857F}"/>
              </a:ext>
            </a:extLst>
          </p:cNvPr>
          <p:cNvCxnSpPr>
            <a:cxnSpLocks/>
            <a:stCxn id="33" idx="2"/>
            <a:endCxn id="18" idx="1"/>
          </p:cNvCxnSpPr>
          <p:nvPr/>
        </p:nvCxnSpPr>
        <p:spPr>
          <a:xfrm rot="5400000" flipH="1">
            <a:off x="2584058" y="2140121"/>
            <a:ext cx="2904662" cy="2320238"/>
          </a:xfrm>
          <a:prstGeom prst="curvedConnector4">
            <a:avLst>
              <a:gd name="adj1" fmla="val -7870"/>
              <a:gd name="adj2" fmla="val 109852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BD7B8D7-342A-BC5E-7F53-2A47474EA5CC}"/>
              </a:ext>
            </a:extLst>
          </p:cNvPr>
          <p:cNvSpPr txBox="1"/>
          <p:nvPr/>
        </p:nvSpPr>
        <p:spPr>
          <a:xfrm>
            <a:off x="1681432" y="3428193"/>
            <a:ext cx="894726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900" dirty="0"/>
              <a:t>ログアウト</a:t>
            </a:r>
            <a:endParaRPr kumimoji="1" lang="en-US" altLang="ja-JP" sz="9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6C8484-5200-6EDA-C330-0654BA92A3FD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フロー概要（公演参加状況確認）</a:t>
            </a:r>
          </a:p>
        </p:txBody>
      </p:sp>
    </p:spTree>
    <p:extLst>
      <p:ext uri="{BB962C8B-B14F-4D97-AF65-F5344CB8AC3E}">
        <p14:creationId xmlns:p14="http://schemas.microsoft.com/office/powerpoint/2010/main" val="4029591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2207E-C61D-B6F1-C712-A990094C9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48E61C3A-DDBA-7D84-3F45-F40946BC5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7ABF62C9-F343-FB45-3EBC-8147E7ED38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3DF6E74-0319-4784-D7A9-C4552EB04377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B0A249-7E02-F115-8ED8-604393D804E3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AC5AC1-BD89-F137-C57F-56CE4874D8AE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</a:p>
        </p:txBody>
      </p:sp>
    </p:spTree>
    <p:extLst>
      <p:ext uri="{BB962C8B-B14F-4D97-AF65-F5344CB8AC3E}">
        <p14:creationId xmlns:p14="http://schemas.microsoft.com/office/powerpoint/2010/main" val="1870143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938B5-178C-F7FD-7D7A-1C33C381B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27DCE35-E953-B48E-BA21-9883B4E10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0167421E-3594-7537-4DF5-D2D2BE3D20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36E243D-CF95-637B-4BB4-493A6D74B94D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図 7" descr="ダイアグラム, タイムライ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D8F1FFF-D3BD-948B-AC72-CE7C64F3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77" y="1125847"/>
            <a:ext cx="9764091" cy="573215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EFD96B2-1E2C-C9EA-A32D-39FEC023F6E3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EF4D34E-1A80-0C9E-A128-EC46CD9B2AC9}"/>
              </a:ext>
            </a:extLst>
          </p:cNvPr>
          <p:cNvSpPr txBox="1"/>
          <p:nvPr/>
        </p:nvSpPr>
        <p:spPr>
          <a:xfrm>
            <a:off x="307817" y="836008"/>
            <a:ext cx="3521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ケース</a:t>
            </a:r>
            <a:r>
              <a:rPr lang="en-US" altLang="ja-JP" dirty="0"/>
              <a:t>1</a:t>
            </a:r>
            <a:r>
              <a:rPr lang="ja-JP" altLang="en-US" dirty="0"/>
              <a:t>：画面遷移リクエスト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7316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66013-EEFB-A6AF-0197-15CBEAD4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8A91DF96-2F47-8222-FD14-8A20BC222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60EA53D7-6FC7-D82B-6F13-6C642DC66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EFD5D89-A31F-7933-D520-549662B0EDDD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8FFA3C32-A8E0-ECC4-24C3-A44461527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2177" y="1125847"/>
            <a:ext cx="9764091" cy="5732152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638F1A7-C3E8-6EC1-134F-AE7FB9BCC4A0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D1FFDC0-019F-0879-6F6F-D4B8E771D61F}"/>
              </a:ext>
            </a:extLst>
          </p:cNvPr>
          <p:cNvSpPr txBox="1"/>
          <p:nvPr/>
        </p:nvSpPr>
        <p:spPr>
          <a:xfrm>
            <a:off x="307817" y="836008"/>
            <a:ext cx="436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ケース</a:t>
            </a:r>
            <a:r>
              <a:rPr lang="en-US" altLang="ja-JP" dirty="0"/>
              <a:t>2</a:t>
            </a:r>
            <a:r>
              <a:rPr lang="ja-JP" altLang="en-US" dirty="0"/>
              <a:t>：データ登録・更新リクエスト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73897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3933B-C7EC-E36C-0296-372CC5F6A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065A9F6D-4E90-3E16-43EB-0A66D48D9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4E5F057F-7192-C82A-D54B-C493B33F6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A29614C-D865-07E3-FF4A-6FC1490AA4A8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8CA9F5A5-E46C-7024-F83B-BBA6FFE2C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2178" y="1125847"/>
            <a:ext cx="9764089" cy="5732152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1476778-F33F-CEA1-8BD9-75B02383EE58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217D239-A3AD-DA62-C6F7-EFF93321D504}"/>
              </a:ext>
            </a:extLst>
          </p:cNvPr>
          <p:cNvSpPr txBox="1"/>
          <p:nvPr/>
        </p:nvSpPr>
        <p:spPr>
          <a:xfrm>
            <a:off x="307818" y="836008"/>
            <a:ext cx="59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ケース</a:t>
            </a:r>
            <a:r>
              <a:rPr lang="en-US" altLang="ja-JP" dirty="0"/>
              <a:t>3</a:t>
            </a:r>
            <a:r>
              <a:rPr lang="ja-JP" altLang="en-US" dirty="0"/>
              <a:t>：メール送信リクエスト（</a:t>
            </a:r>
            <a:r>
              <a:rPr lang="en-US" altLang="ja-JP" dirty="0"/>
              <a:t>Google Mail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43100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E28A-679C-B82F-FFDA-64BDD8C1F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01A70CD2-A2DC-BE9E-E188-D4B353157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0C6BCF48-9C45-41B1-A9FE-A5DF138325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BDCD8431-BE43-F888-5E61-5D07AF46BB75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DA6C1CA5-A4C6-4A16-B69F-2501FC20F0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2178" y="1125847"/>
            <a:ext cx="9764089" cy="5732151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180752C-EBB3-8959-8DE4-5021749BFFDC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シーケンス図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F06B0A0-01CD-5515-017B-6EEEDDD4EBBA}"/>
              </a:ext>
            </a:extLst>
          </p:cNvPr>
          <p:cNvSpPr txBox="1"/>
          <p:nvPr/>
        </p:nvSpPr>
        <p:spPr>
          <a:xfrm>
            <a:off x="307818" y="836008"/>
            <a:ext cx="59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ケース</a:t>
            </a:r>
            <a:r>
              <a:rPr lang="en-US" altLang="ja-JP" dirty="0"/>
              <a:t>4</a:t>
            </a:r>
            <a:r>
              <a:rPr lang="ja-JP" altLang="en-US" dirty="0"/>
              <a:t>：メール送信リクエスト（</a:t>
            </a:r>
            <a:r>
              <a:rPr lang="en-US" altLang="ja-JP" dirty="0"/>
              <a:t>Excel Service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98828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6B1F2-914C-492A-E112-CA326A295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73D7D85B-8E27-DC04-662F-11CCA03D3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EEC69685-E8F1-EC38-573B-DE96BE451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D70AAA3C-4DE3-3611-9D71-50B08CFA4EB3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0EFF00-C8B2-5467-CB58-74164BD1A75A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kumimoji="1"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環境構築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ECE5C3-50FB-00C1-D477-4F3FD9DFE371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環境構築</a:t>
            </a:r>
            <a:endParaRPr kumimoji="1" lang="ja-JP" altLang="en-US" sz="28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3930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2D4AE-BB09-35DF-E76A-2BC6562B0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4F09EA84-B5D8-3D12-F390-AF112A0C80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4E1DC0D9-AED0-0C93-A97E-98C0A2D59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65AFADCE-578B-D77C-869C-F2E24404C6FD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F1BC008-0F07-5A3B-1A5D-A585E86B36B9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744E51-BB5D-C243-99BA-A7C4E0DD8B17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環境構築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AC53AAA-8BEE-D507-23CD-2211653F323F}"/>
              </a:ext>
            </a:extLst>
          </p:cNvPr>
          <p:cNvSpPr/>
          <p:nvPr/>
        </p:nvSpPr>
        <p:spPr>
          <a:xfrm>
            <a:off x="208702" y="990148"/>
            <a:ext cx="11774596" cy="563436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FB7F2CA-C7B5-3FA2-D14E-F96F232A2574}"/>
              </a:ext>
            </a:extLst>
          </p:cNvPr>
          <p:cNvSpPr txBox="1"/>
          <p:nvPr/>
        </p:nvSpPr>
        <p:spPr>
          <a:xfrm>
            <a:off x="235516" y="1011006"/>
            <a:ext cx="153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Sakura VPS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459CA60-1512-B576-07A3-75248AD8E64D}"/>
              </a:ext>
            </a:extLst>
          </p:cNvPr>
          <p:cNvGrpSpPr/>
          <p:nvPr/>
        </p:nvGrpSpPr>
        <p:grpSpPr>
          <a:xfrm>
            <a:off x="566337" y="1401196"/>
            <a:ext cx="11059326" cy="5039495"/>
            <a:chOff x="566337" y="1401196"/>
            <a:chExt cx="11059326" cy="5039495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4E416FB-509E-C738-60BA-E2A1F3B31B4C}"/>
                </a:ext>
              </a:extLst>
            </p:cNvPr>
            <p:cNvSpPr/>
            <p:nvPr/>
          </p:nvSpPr>
          <p:spPr>
            <a:xfrm>
              <a:off x="566337" y="1401196"/>
              <a:ext cx="11059326" cy="503949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9265EBA5-139F-37A1-298D-63F07CC608A8}"/>
                </a:ext>
              </a:extLst>
            </p:cNvPr>
            <p:cNvSpPr txBox="1"/>
            <p:nvPr/>
          </p:nvSpPr>
          <p:spPr>
            <a:xfrm>
              <a:off x="580042" y="1429907"/>
              <a:ext cx="1185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dirty="0"/>
                <a:t>c</a:t>
              </a:r>
              <a:r>
                <a:rPr kumimoji="1" lang="en-US" altLang="ja-JP" dirty="0"/>
                <a:t>entos 9</a:t>
              </a:r>
              <a:endParaRPr kumimoji="1" lang="ja-JP" altLang="en-US" dirty="0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9F2B4803-09DC-9855-A8AC-2013CDCE54A2}"/>
              </a:ext>
            </a:extLst>
          </p:cNvPr>
          <p:cNvGrpSpPr/>
          <p:nvPr/>
        </p:nvGrpSpPr>
        <p:grpSpPr>
          <a:xfrm>
            <a:off x="840394" y="1884715"/>
            <a:ext cx="10527423" cy="4364054"/>
            <a:chOff x="566337" y="1401196"/>
            <a:chExt cx="11059326" cy="5039495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DC24C4D-4F11-9B74-5A0F-4ACF79B2A4AD}"/>
                </a:ext>
              </a:extLst>
            </p:cNvPr>
            <p:cNvSpPr/>
            <p:nvPr/>
          </p:nvSpPr>
          <p:spPr>
            <a:xfrm>
              <a:off x="566337" y="1401196"/>
              <a:ext cx="11059326" cy="50394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85EA00D-5A80-701A-C167-6FD26B8917CE}"/>
                </a:ext>
              </a:extLst>
            </p:cNvPr>
            <p:cNvSpPr txBox="1"/>
            <p:nvPr/>
          </p:nvSpPr>
          <p:spPr>
            <a:xfrm>
              <a:off x="580042" y="1429907"/>
              <a:ext cx="6464873" cy="39450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Java 21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en-US" altLang="ja-JP" dirty="0"/>
                <a:t>Apache (</a:t>
              </a:r>
              <a:r>
                <a:rPr kumimoji="1" lang="ja-JP" altLang="en-US" dirty="0"/>
                <a:t>最新</a:t>
              </a:r>
              <a:r>
                <a:rPr kumimoji="1"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 err="1"/>
                <a:t>mySQL</a:t>
              </a:r>
              <a:r>
                <a:rPr lang="en-US" altLang="ja-JP" dirty="0"/>
                <a:t> (</a:t>
              </a:r>
              <a:r>
                <a:rPr lang="ja-JP" altLang="en-US" dirty="0"/>
                <a:t>最新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kumimoji="1" lang="en-US" altLang="ja-JP" dirty="0"/>
            </a:p>
            <a:p>
              <a:r>
                <a:rPr lang="ja-JP" altLang="en-US" dirty="0"/>
                <a:t>フレームワーク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Spring boot (</a:t>
              </a:r>
              <a:r>
                <a:rPr lang="ja-JP" altLang="en-US" dirty="0"/>
                <a:t>最新</a:t>
              </a:r>
              <a:r>
                <a:rPr lang="en-US" altLang="ja-JP" dirty="0"/>
                <a:t>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ja-JP" dirty="0"/>
            </a:p>
            <a:p>
              <a:r>
                <a:rPr lang="ja-JP" altLang="en-US" dirty="0"/>
                <a:t>言語</a:t>
              </a:r>
              <a:endParaRPr lang="en-US" altLang="ja-JP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Java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HTML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CSS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dirty="0"/>
                <a:t>JavaScript</a:t>
              </a:r>
            </a:p>
          </p:txBody>
        </p:sp>
      </p:grpSp>
      <p:sp>
        <p:nvSpPr>
          <p:cNvPr id="26" name="矢印: 上向き折線 25">
            <a:extLst>
              <a:ext uri="{FF2B5EF4-FFF2-40B4-BE49-F238E27FC236}">
                <a16:creationId xmlns:a16="http://schemas.microsoft.com/office/drawing/2014/main" id="{A25871CB-1CC4-50E0-71D0-2F74588F1EF2}"/>
              </a:ext>
            </a:extLst>
          </p:cNvPr>
          <p:cNvSpPr/>
          <p:nvPr/>
        </p:nvSpPr>
        <p:spPr>
          <a:xfrm flipV="1">
            <a:off x="2897108" y="2587607"/>
            <a:ext cx="6753886" cy="2224184"/>
          </a:xfrm>
          <a:prstGeom prst="bentUpArrow">
            <a:avLst>
              <a:gd name="adj1" fmla="val 5266"/>
              <a:gd name="adj2" fmla="val 7350"/>
              <a:gd name="adj3" fmla="val 10595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E06825B4-ED11-9E11-F04F-007681A10F48}"/>
              </a:ext>
            </a:extLst>
          </p:cNvPr>
          <p:cNvSpPr/>
          <p:nvPr/>
        </p:nvSpPr>
        <p:spPr>
          <a:xfrm>
            <a:off x="8192325" y="4811792"/>
            <a:ext cx="2590352" cy="95877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85000"/>
                  </a:schemeClr>
                </a:solidFill>
              </a:rPr>
              <a:t>データベース構成</a:t>
            </a:r>
            <a:endParaRPr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ja-JP" altLang="en-US" dirty="0">
                <a:solidFill>
                  <a:schemeClr val="bg1">
                    <a:lumMod val="85000"/>
                  </a:schemeClr>
                </a:solidFill>
              </a:rPr>
              <a:t>後述</a:t>
            </a:r>
            <a:endParaRPr kumimoji="1" lang="ja-JP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1AA4D86-21EA-5962-1C30-943449E1F810}"/>
              </a:ext>
            </a:extLst>
          </p:cNvPr>
          <p:cNvSpPr/>
          <p:nvPr/>
        </p:nvSpPr>
        <p:spPr>
          <a:xfrm>
            <a:off x="3221184" y="4810606"/>
            <a:ext cx="2590352" cy="95877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85000"/>
                  </a:schemeClr>
                </a:solidFill>
              </a:rPr>
              <a:t>クラス・</a:t>
            </a:r>
            <a:r>
              <a:rPr kumimoji="1" lang="ja-JP" altLang="en-US" dirty="0">
                <a:solidFill>
                  <a:schemeClr val="bg1">
                    <a:lumMod val="85000"/>
                  </a:schemeClr>
                </a:solidFill>
              </a:rPr>
              <a:t>環境構成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bg1">
                    <a:lumMod val="85000"/>
                  </a:schemeClr>
                </a:solidFill>
              </a:rPr>
              <a:t>後述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矢印: 上向き折線 28">
            <a:extLst>
              <a:ext uri="{FF2B5EF4-FFF2-40B4-BE49-F238E27FC236}">
                <a16:creationId xmlns:a16="http://schemas.microsoft.com/office/drawing/2014/main" id="{292E838C-F362-3CBD-8B63-DFA7E190544E}"/>
              </a:ext>
            </a:extLst>
          </p:cNvPr>
          <p:cNvSpPr/>
          <p:nvPr/>
        </p:nvSpPr>
        <p:spPr>
          <a:xfrm flipV="1">
            <a:off x="3387012" y="3429000"/>
            <a:ext cx="1242036" cy="1367854"/>
          </a:xfrm>
          <a:prstGeom prst="bentUpArrow">
            <a:avLst>
              <a:gd name="adj1" fmla="val 9773"/>
              <a:gd name="adj2" fmla="val 7350"/>
              <a:gd name="adj3" fmla="val 10595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6891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17AE-9025-C9FB-65BF-979DD3E6B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24BB5568-E83F-E316-5C11-766044F852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075C4F1F-38BB-96DA-E0DD-84BE1D34F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5FB4FE4-293D-5975-DDD9-B7662347F694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F501CEB-2353-2F18-4B0D-E62FF8B210BC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681500A-DA20-90CA-91AF-3ECC2E0943D2}"/>
              </a:ext>
            </a:extLst>
          </p:cNvPr>
          <p:cNvSpPr txBox="1"/>
          <p:nvPr/>
        </p:nvSpPr>
        <p:spPr>
          <a:xfrm>
            <a:off x="208702" y="233464"/>
            <a:ext cx="8020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環境構築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F4EA789-1E9D-4435-7AA2-7208ED84A0B1}"/>
              </a:ext>
            </a:extLst>
          </p:cNvPr>
          <p:cNvSpPr txBox="1"/>
          <p:nvPr/>
        </p:nvSpPr>
        <p:spPr>
          <a:xfrm>
            <a:off x="208702" y="982894"/>
            <a:ext cx="1177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Spring boot </a:t>
            </a:r>
            <a:r>
              <a:rPr kumimoji="1" lang="ja-JP" altLang="en-US" dirty="0"/>
              <a:t>クラス一覧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05FFBB2-7DA4-1131-BDF1-ABC392791539}"/>
              </a:ext>
            </a:extLst>
          </p:cNvPr>
          <p:cNvSpPr txBox="1"/>
          <p:nvPr/>
        </p:nvSpPr>
        <p:spPr>
          <a:xfrm>
            <a:off x="530006" y="1352226"/>
            <a:ext cx="10915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Controller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EC10CA-6856-290B-D101-D82B5C4210F7}"/>
              </a:ext>
            </a:extLst>
          </p:cNvPr>
          <p:cNvSpPr txBox="1"/>
          <p:nvPr/>
        </p:nvSpPr>
        <p:spPr>
          <a:xfrm>
            <a:off x="1068119" y="1721558"/>
            <a:ext cx="109151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MainController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checkSession</a:t>
            </a:r>
            <a:r>
              <a:rPr kumimoji="1" lang="en-US" altLang="ja-JP" dirty="0"/>
              <a:t>(Model </a:t>
            </a:r>
            <a:r>
              <a:rPr kumimoji="1" lang="en-US" altLang="ja-JP" dirty="0" err="1"/>
              <a:t>model</a:t>
            </a:r>
            <a:r>
              <a:rPr kumimoji="1" lang="en-US" altLang="ja-JP" dirty="0"/>
              <a:t>, String </a:t>
            </a:r>
            <a:r>
              <a:rPr kumimoji="1" lang="en-US" altLang="ja-JP" dirty="0" err="1"/>
              <a:t>pageName</a:t>
            </a:r>
            <a:r>
              <a:rPr kumimoji="1" lang="en-US" altLang="ja-JP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checkUserSession</a:t>
            </a:r>
            <a:r>
              <a:rPr kumimoji="1" lang="en-US" altLang="ja-JP" dirty="0"/>
              <a:t>(Model </a:t>
            </a:r>
            <a:r>
              <a:rPr kumimoji="1" lang="en-US" altLang="ja-JP" dirty="0" err="1"/>
              <a:t>model</a:t>
            </a:r>
            <a:r>
              <a:rPr kumimoji="1" lang="en-US" altLang="ja-JP" dirty="0"/>
              <a:t>, String </a:t>
            </a:r>
            <a:r>
              <a:rPr kumimoji="1" lang="en-US" altLang="ja-JP" dirty="0" err="1"/>
              <a:t>pageName</a:t>
            </a:r>
            <a:r>
              <a:rPr kumimoji="1" lang="en-US" altLang="ja-JP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checkDefStSession</a:t>
            </a:r>
            <a:r>
              <a:rPr kumimoji="1" lang="en-US" altLang="ja-JP" dirty="0"/>
              <a:t>(Model </a:t>
            </a:r>
            <a:r>
              <a:rPr kumimoji="1" lang="en-US" altLang="ja-JP" dirty="0" err="1"/>
              <a:t>model</a:t>
            </a:r>
            <a:r>
              <a:rPr kumimoji="1" lang="en-US" altLang="ja-JP" dirty="0"/>
              <a:t>, String </a:t>
            </a:r>
            <a:r>
              <a:rPr kumimoji="1" lang="en-US" altLang="ja-JP" dirty="0" err="1"/>
              <a:t>pageName</a:t>
            </a:r>
            <a:r>
              <a:rPr kumimoji="1" lang="en-US" altLang="ja-JP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setEnvData</a:t>
            </a:r>
            <a:r>
              <a:rPr kumimoji="1" lang="en-US" altLang="ja-JP" dirty="0"/>
              <a:t>(Model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goLoginPage</a:t>
            </a:r>
            <a:r>
              <a:rPr kumimoji="1" lang="en-US" altLang="ja-JP" dirty="0"/>
              <a:t>(Model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goRootPage</a:t>
            </a:r>
            <a:r>
              <a:rPr kumimoji="1" lang="en-US" altLang="ja-JP" dirty="0"/>
              <a:t>(Model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 err="1"/>
              <a:t>accessRoot</a:t>
            </a:r>
            <a:r>
              <a:rPr kumimoji="1" lang="en-US" altLang="ja-JP" dirty="0"/>
              <a:t>(Model </a:t>
            </a:r>
            <a:r>
              <a:rPr kumimoji="1" lang="en-US" altLang="ja-JP" dirty="0" err="1"/>
              <a:t>model</a:t>
            </a:r>
            <a:r>
              <a:rPr kumimoji="1" lang="en-US" altLang="ja-JP" dirty="0"/>
              <a:t>, String mode, String </a:t>
            </a:r>
            <a:r>
              <a:rPr kumimoji="1" lang="en-US" altLang="ja-JP" dirty="0" err="1"/>
              <a:t>userId</a:t>
            </a:r>
            <a:r>
              <a:rPr kumimoji="1" lang="en-US" altLang="ja-JP" dirty="0"/>
              <a:t>, String </a:t>
            </a:r>
            <a:r>
              <a:rPr kumimoji="1" lang="en-US" altLang="ja-JP" dirty="0" err="1"/>
              <a:t>userPass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6500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9732</TotalTime>
  <Words>497</Words>
  <Application>Microsoft Office PowerPoint</Application>
  <PresentationFormat>ワイド画面</PresentationFormat>
  <Paragraphs>148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HGS明朝E</vt:lpstr>
      <vt:lpstr>游ゴシック</vt:lpstr>
      <vt:lpstr>游ゴシック Light</vt:lpstr>
      <vt:lpstr>Arial</vt:lpstr>
      <vt:lpstr>Office テーマ</vt:lpstr>
      <vt:lpstr>Resat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青木 智之</dc:creator>
  <cp:lastModifiedBy>青木 智之</cp:lastModifiedBy>
  <cp:revision>77</cp:revision>
  <dcterms:created xsi:type="dcterms:W3CDTF">2025-03-16T06:26:46Z</dcterms:created>
  <dcterms:modified xsi:type="dcterms:W3CDTF">2025-05-26T14:51:50Z</dcterms:modified>
</cp:coreProperties>
</file>