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4EDA"/>
    <a:srgbClr val="E74161"/>
    <a:srgbClr val="5CB9CC"/>
    <a:srgbClr val="E642BB"/>
    <a:srgbClr val="F038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A8520-B178-40E8-8302-C2C1EA67D214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852200-3FC2-488E-A236-C880CACFFC5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6919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52200-3FC2-488E-A236-C880CACFFC59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8490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35F07-198F-8EC7-9610-87AE5FDA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42FD2BC-5E66-1138-C726-50689ECD18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228F28A-3566-E0C4-F5B7-720DA22C0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677A8F0-3157-8F7A-1C72-4F73DA94DA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52200-3FC2-488E-A236-C880CACFFC59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5798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2381D-27A6-E808-4835-9A81DE23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176524F-03E0-98D5-CE86-240E9E181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58B622E-7461-EBD6-67F9-D4099CD89F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3E59127-FB36-AE70-9960-9273979F0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52200-3FC2-488E-A236-C880CACFFC59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1909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2D490-41FA-20B7-36A2-292AC0727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576B4F5-49A5-4483-9C0E-24A283DA2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22AA3EB-8F1F-11B4-C69A-0989598892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7DFF2B-9CC5-2649-F408-86CA37A384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852200-3FC2-488E-A236-C880CACFFC59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44282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C2BA80-DBA7-39C9-89E4-B882CF0CF6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87027A0-C56F-C4A8-223A-C8057D337E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237653-AF73-11D3-7CC7-3DC3360B9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F33A60-C4E9-F758-B544-20F23F306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E09E56-5EF4-9FD4-36CE-11D7532E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7074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451516-FD97-E6D4-2D53-96CB6969A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80F95E6-8FF9-C0CB-AA9A-18B053031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5381E7-567E-88B9-59BF-0BE154AEE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82C151-0964-3BAD-3E27-3D06884CF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6B7CF75-469E-2471-EC97-864BFDC32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5013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4736AB-E132-8F34-A019-F4FD79E7A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FF34461-714F-E3DD-3C44-4D641BE98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6546DA3-1E35-D849-C3C7-10B3008C3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69FC6F-35F1-4903-3A52-D9D42CBB8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26DED-5519-D382-AF3E-CD941F935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646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7D618B-B7B8-7BC2-08FE-2641C14B1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2AE801-189E-BEE4-7723-B272AD2A7A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B7C6327-B373-E46B-19E8-107C6C60FA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941A8B-B1CA-6CBA-9488-E21C6C11A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D48533-7E20-826C-B1E0-78134A82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0877F3-2E85-3C7A-A2D0-73DF98A8B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1638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2CF4B9-7A9D-2C8A-C521-21360B501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AA91E5-6526-806F-460F-124FE8BB78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6F2BBDD-5734-355D-D4CA-5315BBC69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9D9AE5B-3F32-39CF-3149-98B0AF6EDA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3D082D-4695-08A7-5EDF-07BE9F4118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00BF2D0-3E6A-DA66-0959-4770861EF8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7CBE29A-2F2B-E8EA-1FD1-704F01C6E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1B1DF6-3CC7-D285-C571-887012D39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2270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417D1E-7AAE-6006-E385-DEABF92AA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8366AA5-FAAD-7204-FFC4-63D28C879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9C7040-A858-09C5-9756-D7C8FFBE5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A40576F-F79E-C6FE-31DB-0049AC4B8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237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DC4971F-7C24-A16B-E13C-4D965510B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5E26113-EB62-9CEF-4008-B75BAFFEB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94526E-B24D-A2AE-A067-F5D9778DD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919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F42249-4356-D379-D785-43AF2825E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B2196A7-B476-5E1E-78C5-FA3280CEC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4315F4-F865-CD9E-9212-A9218D0349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FAC63D-593E-F206-CBBC-594AEAD3D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FB9486B-0271-6EC1-7687-A7DFB579E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5203103-6B5B-93EF-E628-10D757C06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78197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702DC8-74A6-C4D6-C8BD-CB6A5C6EC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16F460-92BD-15AD-700F-FE9493085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3B64EE9-0142-3389-6DAD-6D2D242465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14D6750-5CE2-B27F-9338-6968F2FF4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B749E8-6E52-7319-9E94-F8E41FBE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2A94D54-35E4-94F1-0C97-7C84236C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492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B7B2BB-D4C8-267E-743C-A9D547F0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EF25A0A-CC6F-22DA-7C88-D2643E9C0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C8FB1A1-91BF-5762-D8EA-2587D8522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795C47-AE06-C360-47F2-8768EB8C0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9888E8-5C44-4DBB-4565-1F7490B27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8840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B7EAB9A-A1C9-BD59-ACC4-E216A15E1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823876-B5E1-8AA6-C598-92E5DACF7B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B9ABDF-2049-E05B-0ADC-642D4E204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1E94EB-BF81-CB3E-6B60-A673E3E82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1149AD-08C9-6F58-E7EF-71B62268C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1086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7C34F51-C7E8-E85E-0106-7ECB9ADC9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4FC1387-6E02-ED1E-1EF5-ECC4709CF0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260885-B236-1136-1BC8-8F37467565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604E46-DE29-4371-AEB2-BC40B6324E73}" type="datetimeFigureOut">
              <a:rPr kumimoji="1" lang="ja-JP" altLang="en-US" smtClean="0"/>
              <a:t>2025/6/13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1043B7-8DFB-C182-D0D4-BF81EE5B0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AF9975-0AA3-8431-E9CE-13499DFA2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701A5-B8CE-4D10-8B2C-105B2917CBE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823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png"/><Relationship Id="rId7" Type="http://schemas.openxmlformats.org/officeDocument/2006/relationships/hyperlink" Target="https://game-icons.net/1x1/delapouite/database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hyperlink" Target="https://pixabay.com/ja/%E6%89%8B%E7%B4%99-%E9%9B%BB%E5%AD%90%E3%83%A1%E3%83%BC%E3%83%AB-%E3%83%A1%E3%83%BC%E3%83%AB-%E9%80%81%E4%BF%A1-%E3%83%A1%E3%83%83%E3%82%BB%E3%83%BC%E3%82%B8-1292827/" TargetMode="External"/><Relationship Id="rId5" Type="http://schemas.openxmlformats.org/officeDocument/2006/relationships/image" Target="../media/image4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hyperlink" Target="https://www.devdummy.com/2018/09/java-10-released.htm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3A4300-5D5E-0CD6-8969-C515A67E5C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Resat</a:t>
            </a:r>
            <a:endParaRPr kumimoji="1" lang="ja-JP" altLang="en-US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48C7CE2-72B8-5655-18DA-2AA0DB5210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>
                <a:latin typeface="HGS明朝E" panose="02020900000000000000" pitchFamily="18" charset="-128"/>
                <a:ea typeface="HGS明朝E" panose="02020900000000000000" pitchFamily="18" charset="-128"/>
              </a:rPr>
              <a:t>劇団抜きにくい釘 チケット予約システム</a:t>
            </a:r>
            <a:endParaRPr kumimoji="1" lang="ja-JP" altLang="en-US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136ED0E3-7068-0FAA-4CFF-2E237C39F0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sp>
        <p:nvSpPr>
          <p:cNvPr id="5" name="フローチャート: 記憶データ 4">
            <a:extLst>
              <a:ext uri="{FF2B5EF4-FFF2-40B4-BE49-F238E27FC236}">
                <a16:creationId xmlns:a16="http://schemas.microsoft.com/office/drawing/2014/main" id="{F08829E5-1D92-5BB9-7073-09FDC11CCA45}"/>
              </a:ext>
            </a:extLst>
          </p:cNvPr>
          <p:cNvSpPr/>
          <p:nvPr/>
        </p:nvSpPr>
        <p:spPr>
          <a:xfrm>
            <a:off x="-3560323" y="0"/>
            <a:ext cx="6517532" cy="6858000"/>
          </a:xfrm>
          <a:prstGeom prst="flowChartOn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609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4CF6B-1902-38B5-C8F5-C3B91D888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1FC57F5B-A40F-0707-9EBC-5FEF7BB533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CBED2DDD-F65E-EEC2-8B1E-EC4D84851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698917B-F937-D09F-8D64-FDB7420B7158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A8E35D0-C026-BF07-91B0-149A023CF873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ACE4E19-390A-C57D-24A9-DBE64BF6B732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6806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86D71-F137-82DD-F19D-2C6378F91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DDF78DAF-C56C-1222-FA80-2A85322DD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r>
              <a:rPr kumimoji="1"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kumimoji="1"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9AE285BF-2CF1-6245-53AF-C9FF43D2C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AF86267-98D8-C577-F08C-6B8A3B6C57EB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130D39D-6AB3-011F-C2F2-994D65D7B71F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9D16F8D-D455-4C0D-3C00-7850787A2EB6}"/>
              </a:ext>
            </a:extLst>
          </p:cNvPr>
          <p:cNvSpPr/>
          <p:nvPr/>
        </p:nvSpPr>
        <p:spPr>
          <a:xfrm>
            <a:off x="126460" y="904672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616FFB2-516D-3F26-4E9C-6DBAB90A8364}"/>
              </a:ext>
            </a:extLst>
          </p:cNvPr>
          <p:cNvSpPr txBox="1"/>
          <p:nvPr/>
        </p:nvSpPr>
        <p:spPr>
          <a:xfrm>
            <a:off x="253508" y="1033723"/>
            <a:ext cx="117011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演劇公演の予約システム</a:t>
            </a:r>
            <a:br>
              <a:rPr kumimoji="1" lang="en-US" altLang="ja-JP" sz="3200" dirty="0">
                <a:latin typeface="HGS明朝E" panose="02020900000000000000" pitchFamily="18" charset="-128"/>
                <a:ea typeface="HGS明朝E" panose="02020900000000000000" pitchFamily="18" charset="-128"/>
              </a:rPr>
            </a:br>
            <a:endParaRPr kumimoji="1" lang="en-US" altLang="ja-JP" sz="3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予約管理と予約申し込みを兼ね備えたシステム</a:t>
            </a:r>
            <a:br>
              <a:rPr lang="en-US" altLang="ja-JP" sz="3200" dirty="0">
                <a:latin typeface="HGS明朝E" panose="02020900000000000000" pitchFamily="18" charset="-128"/>
                <a:ea typeface="HGS明朝E" panose="02020900000000000000" pitchFamily="18" charset="-128"/>
              </a:rPr>
            </a:br>
            <a:endParaRPr lang="en-US" altLang="ja-JP" sz="3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ユーザーに親和性の高い</a:t>
            </a:r>
            <a:r>
              <a:rPr kumimoji="1" lang="en-US" altLang="ja-JP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UI</a:t>
            </a:r>
            <a:br>
              <a:rPr kumimoji="1" lang="en-US" altLang="ja-JP" sz="3200" dirty="0">
                <a:latin typeface="HGS明朝E" panose="02020900000000000000" pitchFamily="18" charset="-128"/>
                <a:ea typeface="HGS明朝E" panose="02020900000000000000" pitchFamily="18" charset="-128"/>
              </a:rPr>
            </a:br>
            <a:endParaRPr kumimoji="1" lang="en-US" altLang="ja-JP" sz="3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kumimoji="1"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無料</a:t>
            </a:r>
            <a:r>
              <a:rPr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で基本的な機能は全て利用可能</a:t>
            </a:r>
            <a:br>
              <a:rPr lang="en-US" altLang="ja-JP" sz="3200" dirty="0">
                <a:latin typeface="HGS明朝E" panose="02020900000000000000" pitchFamily="18" charset="-128"/>
                <a:ea typeface="HGS明朝E" panose="02020900000000000000" pitchFamily="18" charset="-128"/>
              </a:rPr>
            </a:br>
            <a:r>
              <a:rPr lang="ja-JP" altLang="en-US" sz="3200" dirty="0">
                <a:latin typeface="HGS明朝E" panose="02020900000000000000" pitchFamily="18" charset="-128"/>
                <a:ea typeface="HGS明朝E" panose="02020900000000000000" pitchFamily="18" charset="-128"/>
              </a:rPr>
              <a:t>　⇒有料部分も定義</a:t>
            </a:r>
            <a:endParaRPr lang="en-US" altLang="ja-JP" sz="3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19" name="図 18" descr="おもちゃ, 人形, レゴ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CD0B2D0-7023-D741-AC73-3CC8A748C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1469" y="3586991"/>
            <a:ext cx="3006759" cy="306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29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912E-284E-7B37-B72E-69951846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384F9C35-3589-E8F8-6D03-089BB57F38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47B46F0D-4A3B-4675-FFED-3160757BEB50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7E6A7B4-048B-4D5C-46F7-D80BA40A9403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2 : </a:t>
            </a:r>
            <a:r>
              <a:rPr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システム利用者の位置づけ</a:t>
            </a:r>
            <a:endParaRPr kumimoji="1" lang="ja-JP" altLang="en-US" sz="28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C3947FE-F5B3-FE87-48AD-D59B89835727}"/>
              </a:ext>
            </a:extLst>
          </p:cNvPr>
          <p:cNvSpPr/>
          <p:nvPr/>
        </p:nvSpPr>
        <p:spPr>
          <a:xfrm>
            <a:off x="118353" y="904671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6191F2D-9ABE-790C-65B1-58FD72985765}"/>
              </a:ext>
            </a:extLst>
          </p:cNvPr>
          <p:cNvSpPr/>
          <p:nvPr/>
        </p:nvSpPr>
        <p:spPr>
          <a:xfrm>
            <a:off x="330740" y="1135864"/>
            <a:ext cx="4105072" cy="536966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85AEB9-5C8E-460B-C8DA-3793939DB74A}"/>
              </a:ext>
            </a:extLst>
          </p:cNvPr>
          <p:cNvSpPr/>
          <p:nvPr/>
        </p:nvSpPr>
        <p:spPr>
          <a:xfrm>
            <a:off x="7756188" y="1135864"/>
            <a:ext cx="4105072" cy="53696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動作設定ボタン: ホームへ移動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DC8F5327-DD01-F9DD-7596-FC8983BC3616}"/>
              </a:ext>
            </a:extLst>
          </p:cNvPr>
          <p:cNvSpPr/>
          <p:nvPr/>
        </p:nvSpPr>
        <p:spPr>
          <a:xfrm>
            <a:off x="5648528" y="1135864"/>
            <a:ext cx="894944" cy="856034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 descr="おもちゃ, 時計, 記号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0E03313B-2BD8-EC77-4FCC-4002BA449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740" y="1195672"/>
            <a:ext cx="1780162" cy="1945532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C05123AC-63B3-85B8-3A25-C9B6FEA616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00126" y="1135864"/>
            <a:ext cx="1551561" cy="1945532"/>
          </a:xfrm>
          <a:prstGeom prst="rect">
            <a:avLst/>
          </a:prstGeom>
        </p:spPr>
      </p:pic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F2FCD10-D34F-7CB9-B57E-D9177C38C3A7}"/>
              </a:ext>
            </a:extLst>
          </p:cNvPr>
          <p:cNvSpPr txBox="1"/>
          <p:nvPr/>
        </p:nvSpPr>
        <p:spPr>
          <a:xfrm>
            <a:off x="498666" y="3545432"/>
            <a:ext cx="376922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公演情報の設定</a:t>
            </a:r>
            <a:b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</a:b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　⇒チケット、フォーム</a:t>
            </a:r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URL</a:t>
            </a: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等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票券管理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団体アカウント管理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管理者アカウント管理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予約リスト、チケット発行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各種メール送信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rgbClr val="C00000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フォロー、メッセージ機能</a:t>
            </a:r>
            <a:endParaRPr lang="en-US" altLang="ja-JP" sz="1600" dirty="0">
              <a:solidFill>
                <a:srgbClr val="C00000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02BBAA1-C3F2-35A7-9442-89B8C5860461}"/>
              </a:ext>
            </a:extLst>
          </p:cNvPr>
          <p:cNvSpPr txBox="1"/>
          <p:nvPr/>
        </p:nvSpPr>
        <p:spPr>
          <a:xfrm>
            <a:off x="2326779" y="1263430"/>
            <a:ext cx="1941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HGS明朝E" panose="02020900000000000000" pitchFamily="18" charset="-128"/>
                <a:ea typeface="HGS明朝E" panose="02020900000000000000" pitchFamily="18" charset="-128"/>
              </a:rPr>
              <a:t>管理者</a:t>
            </a:r>
            <a:endParaRPr lang="en-US" altLang="ja-JP" sz="3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7143F5-91C8-E304-7C2A-E4262F791876}"/>
              </a:ext>
            </a:extLst>
          </p:cNvPr>
          <p:cNvSpPr txBox="1"/>
          <p:nvPr/>
        </p:nvSpPr>
        <p:spPr>
          <a:xfrm>
            <a:off x="7924114" y="3546753"/>
            <a:ext cx="376922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予約フォームからの公演予約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予約一覧管理、履歴管理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予約取消、変更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個人アカウント管理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rgbClr val="C00000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フォロー機能</a:t>
            </a:r>
            <a:endParaRPr lang="en-US" altLang="ja-JP" sz="1600" dirty="0">
              <a:solidFill>
                <a:srgbClr val="C00000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6E1B657-8EB4-E94B-F830-B6AA2E57CDA1}"/>
              </a:ext>
            </a:extLst>
          </p:cNvPr>
          <p:cNvSpPr txBox="1"/>
          <p:nvPr/>
        </p:nvSpPr>
        <p:spPr>
          <a:xfrm>
            <a:off x="9595625" y="1263429"/>
            <a:ext cx="1941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予約者</a:t>
            </a:r>
            <a:endParaRPr lang="en-US" altLang="ja-JP" sz="3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C8346CF-C439-082B-3F3E-8790E1CE8A66}"/>
              </a:ext>
            </a:extLst>
          </p:cNvPr>
          <p:cNvSpPr txBox="1"/>
          <p:nvPr/>
        </p:nvSpPr>
        <p:spPr>
          <a:xfrm>
            <a:off x="4222922" y="1939353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予約サイト作成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3AE03BC-9373-11EE-34E9-9AA03386D195}"/>
              </a:ext>
            </a:extLst>
          </p:cNvPr>
          <p:cNvSpPr txBox="1"/>
          <p:nvPr/>
        </p:nvSpPr>
        <p:spPr>
          <a:xfrm>
            <a:off x="6202530" y="1938217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サイトから予約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8D3271D1-52A1-2DED-828E-B2D4D9919486}"/>
              </a:ext>
            </a:extLst>
          </p:cNvPr>
          <p:cNvCxnSpPr>
            <a:cxnSpLocks/>
            <a:stCxn id="2" idx="3"/>
            <a:endCxn id="23" idx="2"/>
          </p:cNvCxnSpPr>
          <p:nvPr/>
        </p:nvCxnSpPr>
        <p:spPr>
          <a:xfrm flipV="1">
            <a:off x="4435812" y="2277907"/>
            <a:ext cx="670384" cy="1542791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F26F1B8F-514E-E4F0-6C39-AC45D28EFFF0}"/>
              </a:ext>
            </a:extLst>
          </p:cNvPr>
          <p:cNvCxnSpPr>
            <a:cxnSpLocks/>
            <a:stCxn id="5" idx="1"/>
            <a:endCxn id="24" idx="2"/>
          </p:cNvCxnSpPr>
          <p:nvPr/>
        </p:nvCxnSpPr>
        <p:spPr>
          <a:xfrm rot="10800000">
            <a:off x="7085804" y="2276772"/>
            <a:ext cx="670384" cy="1543927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A80C774F-89FA-74DC-E748-32E0AF40F35A}"/>
              </a:ext>
            </a:extLst>
          </p:cNvPr>
          <p:cNvCxnSpPr>
            <a:cxnSpLocks/>
            <a:stCxn id="23" idx="0"/>
            <a:endCxn id="6" idx="2"/>
          </p:cNvCxnSpPr>
          <p:nvPr/>
        </p:nvCxnSpPr>
        <p:spPr>
          <a:xfrm rot="5400000" flipH="1" flipV="1">
            <a:off x="5189626" y="1480451"/>
            <a:ext cx="375472" cy="542332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6EA17747-C9BD-A8C9-1FB2-3108847D443C}"/>
              </a:ext>
            </a:extLst>
          </p:cNvPr>
          <p:cNvCxnSpPr>
            <a:cxnSpLocks/>
            <a:stCxn id="24" idx="0"/>
            <a:endCxn id="6" idx="0"/>
          </p:cNvCxnSpPr>
          <p:nvPr/>
        </p:nvCxnSpPr>
        <p:spPr>
          <a:xfrm rot="16200000" flipV="1">
            <a:off x="6627470" y="1479883"/>
            <a:ext cx="374336" cy="542332"/>
          </a:xfrm>
          <a:prstGeom prst="bentConnector2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017B1F3-63E3-237B-ABED-6CA23B13FF56}"/>
              </a:ext>
            </a:extLst>
          </p:cNvPr>
          <p:cNvSpPr txBox="1"/>
          <p:nvPr/>
        </p:nvSpPr>
        <p:spPr>
          <a:xfrm>
            <a:off x="2383276" y="1938217"/>
            <a:ext cx="1707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※</a:t>
            </a: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役者個人を含む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1C95CEB-383C-5A9C-3FF3-F28EB111C3B7}"/>
              </a:ext>
            </a:extLst>
          </p:cNvPr>
          <p:cNvSpPr txBox="1"/>
          <p:nvPr/>
        </p:nvSpPr>
        <p:spPr>
          <a:xfrm>
            <a:off x="5180988" y="6100026"/>
            <a:ext cx="1707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solidFill>
                  <a:srgbClr val="FF0000"/>
                </a:solidFill>
                <a:latin typeface="HGS明朝E" panose="02020900000000000000" pitchFamily="18" charset="-128"/>
                <a:ea typeface="HGS明朝E" panose="02020900000000000000" pitchFamily="18" charset="-128"/>
              </a:rPr>
              <a:t>赤文字は将来的な機能</a:t>
            </a:r>
            <a:endParaRPr lang="en-US" altLang="ja-JP" sz="1200" dirty="0">
              <a:solidFill>
                <a:srgbClr val="FF0000"/>
              </a:solidFill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3E957C77-E4D7-9222-51ED-42E3DB76DF3C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3666159" y="6165410"/>
            <a:ext cx="1514829" cy="7311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E2035B7F-6B72-6C4E-E2A8-1E3FD4FE3769}"/>
              </a:ext>
            </a:extLst>
          </p:cNvPr>
          <p:cNvCxnSpPr>
            <a:cxnSpLocks/>
          </p:cNvCxnSpPr>
          <p:nvPr/>
        </p:nvCxnSpPr>
        <p:spPr>
          <a:xfrm flipH="1">
            <a:off x="6888221" y="5468293"/>
            <a:ext cx="1080856" cy="7702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字幕 2">
            <a:extLst>
              <a:ext uri="{FF2B5EF4-FFF2-40B4-BE49-F238E27FC236}">
                <a16:creationId xmlns:a16="http://schemas.microsoft.com/office/drawing/2014/main" id="{563DFD4C-0672-E1AE-B55A-DCE402A93B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001068" cy="318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lang="ja-JP" altLang="en-US" sz="140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  <a:endParaRPr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77015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01CED-FD49-4B2C-445F-7E34B693A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E8BDE468-E79F-06C5-5ABC-522EC76E664C}"/>
              </a:ext>
            </a:extLst>
          </p:cNvPr>
          <p:cNvSpPr/>
          <p:nvPr/>
        </p:nvSpPr>
        <p:spPr>
          <a:xfrm>
            <a:off x="118353" y="904671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446C5C5-3A0A-601A-499D-1991AF1F7BB4}"/>
              </a:ext>
            </a:extLst>
          </p:cNvPr>
          <p:cNvSpPr/>
          <p:nvPr/>
        </p:nvSpPr>
        <p:spPr>
          <a:xfrm>
            <a:off x="2822713" y="1759226"/>
            <a:ext cx="8743473" cy="474630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A89C5D13-6063-CB8D-99B0-F2BB0BBB9D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A611302A-B779-EA5C-4E79-7346BEDD6814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557FF8-A46C-4677-3D71-1DD006ACC325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3</a:t>
            </a:r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管理者</a:t>
            </a:r>
          </a:p>
        </p:txBody>
      </p:sp>
      <p:sp>
        <p:nvSpPr>
          <p:cNvPr id="6" name="動作設定ボタン: ホームへ移動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B657486C-F4DC-794F-F4EA-29A2F5D13676}"/>
              </a:ext>
            </a:extLst>
          </p:cNvPr>
          <p:cNvSpPr/>
          <p:nvPr/>
        </p:nvSpPr>
        <p:spPr>
          <a:xfrm>
            <a:off x="10190886" y="1135864"/>
            <a:ext cx="894944" cy="856034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 descr="おもちゃ, 時計, 記号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2987717F-F376-EC14-30B4-ADC05479A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740" y="2746176"/>
            <a:ext cx="1780162" cy="1945532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906E91E0-99A0-A131-5A23-B08680897FA0}"/>
              </a:ext>
            </a:extLst>
          </p:cNvPr>
          <p:cNvSpPr txBox="1"/>
          <p:nvPr/>
        </p:nvSpPr>
        <p:spPr>
          <a:xfrm>
            <a:off x="250267" y="1859778"/>
            <a:ext cx="1941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>
                <a:latin typeface="HGS明朝E" panose="02020900000000000000" pitchFamily="18" charset="-128"/>
                <a:ea typeface="HGS明朝E" panose="02020900000000000000" pitchFamily="18" charset="-128"/>
              </a:rPr>
              <a:t>管理者</a:t>
            </a:r>
            <a:endParaRPr lang="en-US" altLang="ja-JP" sz="3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DD29641-DB4E-7873-D501-6346F21FABB9}"/>
              </a:ext>
            </a:extLst>
          </p:cNvPr>
          <p:cNvSpPr txBox="1"/>
          <p:nvPr/>
        </p:nvSpPr>
        <p:spPr>
          <a:xfrm>
            <a:off x="7417869" y="1333048"/>
            <a:ext cx="2773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b="1" dirty="0"/>
              <a:t>りざっとシステム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7728C1A5-C42F-9552-0A3C-42220104440F}"/>
              </a:ext>
            </a:extLst>
          </p:cNvPr>
          <p:cNvSpPr txBox="1"/>
          <p:nvPr/>
        </p:nvSpPr>
        <p:spPr>
          <a:xfrm>
            <a:off x="4768031" y="2953111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個人アカウント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D4E4B3-7B8E-A65F-1292-64CCFB2474F6}"/>
              </a:ext>
            </a:extLst>
          </p:cNvPr>
          <p:cNvSpPr txBox="1"/>
          <p:nvPr/>
        </p:nvSpPr>
        <p:spPr>
          <a:xfrm>
            <a:off x="4756825" y="5085189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団体アカウント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1175404-5FC0-F70B-D5DB-81B0E42D18B1}"/>
              </a:ext>
            </a:extLst>
          </p:cNvPr>
          <p:cNvSpPr txBox="1"/>
          <p:nvPr/>
        </p:nvSpPr>
        <p:spPr>
          <a:xfrm>
            <a:off x="9638752" y="2939211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公演情報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F99D1B27-D210-0C60-85A9-F58905A9BBB9}"/>
              </a:ext>
            </a:extLst>
          </p:cNvPr>
          <p:cNvCxnSpPr>
            <a:stCxn id="13" idx="3"/>
            <a:endCxn id="17" idx="1"/>
          </p:cNvCxnSpPr>
          <p:nvPr/>
        </p:nvCxnSpPr>
        <p:spPr>
          <a:xfrm flipV="1">
            <a:off x="2110902" y="3122388"/>
            <a:ext cx="2657129" cy="596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F53AF366-7FF1-4BC1-3DBB-A8069954F5D4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2110902" y="3718942"/>
            <a:ext cx="2645923" cy="1535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103D389-48C5-164A-BA47-32D9A3D6B142}"/>
              </a:ext>
            </a:extLst>
          </p:cNvPr>
          <p:cNvCxnSpPr>
            <a:cxnSpLocks/>
            <a:stCxn id="17" idx="2"/>
            <a:endCxn id="19" idx="0"/>
          </p:cNvCxnSpPr>
          <p:nvPr/>
        </p:nvCxnSpPr>
        <p:spPr>
          <a:xfrm flipH="1">
            <a:off x="5640099" y="3291665"/>
            <a:ext cx="11206" cy="179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D58D287C-4B4E-188E-33E2-555DCB29C1B9}"/>
              </a:ext>
            </a:extLst>
          </p:cNvPr>
          <p:cNvCxnSpPr>
            <a:cxnSpLocks/>
            <a:stCxn id="19" idx="3"/>
            <a:endCxn id="26" idx="1"/>
          </p:cNvCxnSpPr>
          <p:nvPr/>
        </p:nvCxnSpPr>
        <p:spPr>
          <a:xfrm flipV="1">
            <a:off x="6523372" y="3108488"/>
            <a:ext cx="3115380" cy="2145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00A12E28-CF17-FE7D-55F5-0D49F3A1DBFA}"/>
              </a:ext>
            </a:extLst>
          </p:cNvPr>
          <p:cNvSpPr txBox="1"/>
          <p:nvPr/>
        </p:nvSpPr>
        <p:spPr>
          <a:xfrm rot="20714881">
            <a:off x="1835086" y="3192082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作成・ログイン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3D0F8E7-5762-A269-B738-0B6E81F9A546}"/>
              </a:ext>
            </a:extLst>
          </p:cNvPr>
          <p:cNvSpPr txBox="1"/>
          <p:nvPr/>
        </p:nvSpPr>
        <p:spPr>
          <a:xfrm rot="1846803">
            <a:off x="1408770" y="4034539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作成</a:t>
            </a: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B0334FF-3C4D-F226-B49B-91C6B1ACB745}"/>
              </a:ext>
            </a:extLst>
          </p:cNvPr>
          <p:cNvSpPr txBox="1"/>
          <p:nvPr/>
        </p:nvSpPr>
        <p:spPr>
          <a:xfrm>
            <a:off x="5634520" y="3420665"/>
            <a:ext cx="11353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ログイン・</a:t>
            </a:r>
            <a:endParaRPr lang="en-US" altLang="ja-JP" sz="1400" dirty="0"/>
          </a:p>
          <a:p>
            <a:r>
              <a:rPr lang="ja-JP" altLang="en-US" sz="1400" dirty="0"/>
              <a:t>所属</a:t>
            </a:r>
            <a:endParaRPr kumimoji="1" lang="ja-JP" altLang="en-US" sz="1400" dirty="0"/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EBE86AB-4E3C-37F3-6893-377BEC99F7E9}"/>
              </a:ext>
            </a:extLst>
          </p:cNvPr>
          <p:cNvCxnSpPr>
            <a:cxnSpLocks/>
            <a:stCxn id="17" idx="3"/>
            <a:endCxn id="26" idx="1"/>
          </p:cNvCxnSpPr>
          <p:nvPr/>
        </p:nvCxnSpPr>
        <p:spPr>
          <a:xfrm flipV="1">
            <a:off x="6534578" y="3108488"/>
            <a:ext cx="3104174" cy="13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3B2AD700-6F48-27FE-6B64-529C29DAD6DF}"/>
              </a:ext>
            </a:extLst>
          </p:cNvPr>
          <p:cNvSpPr txBox="1"/>
          <p:nvPr/>
        </p:nvSpPr>
        <p:spPr>
          <a:xfrm>
            <a:off x="6934744" y="2829018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公演参加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611E77BE-D72D-F4D7-C968-39BF0829F2D8}"/>
              </a:ext>
            </a:extLst>
          </p:cNvPr>
          <p:cNvSpPr txBox="1"/>
          <p:nvPr/>
        </p:nvSpPr>
        <p:spPr>
          <a:xfrm rot="19445963">
            <a:off x="6748753" y="3978490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公演作成</a:t>
            </a:r>
          </a:p>
        </p:txBody>
      </p:sp>
      <p:sp>
        <p:nvSpPr>
          <p:cNvPr id="7" name="字幕 2">
            <a:extLst>
              <a:ext uri="{FF2B5EF4-FFF2-40B4-BE49-F238E27FC236}">
                <a16:creationId xmlns:a16="http://schemas.microsoft.com/office/drawing/2014/main" id="{FA888007-8DD4-D0DC-D39D-B49564D8D82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001068" cy="318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lang="ja-JP" altLang="en-US" sz="140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  <a:endParaRPr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0053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813DD-3E61-8024-979A-0A8F422BB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65E28CD-64AC-6B69-1A3A-1224C997B347}"/>
              </a:ext>
            </a:extLst>
          </p:cNvPr>
          <p:cNvSpPr/>
          <p:nvPr/>
        </p:nvSpPr>
        <p:spPr>
          <a:xfrm>
            <a:off x="118353" y="904671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1C72A4-CB53-3588-45E9-4BD62BC02EBA}"/>
              </a:ext>
            </a:extLst>
          </p:cNvPr>
          <p:cNvSpPr/>
          <p:nvPr/>
        </p:nvSpPr>
        <p:spPr>
          <a:xfrm>
            <a:off x="2822713" y="1759226"/>
            <a:ext cx="8743473" cy="474630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C6E3C53C-51A4-3193-36AC-C312DC659F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75C775FF-1FF4-530D-AEB7-C3AEECE05C1B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E9E374F-99E2-228A-2C9E-BD59CFABAF7E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</a:t>
            </a:r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 4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予約者</a:t>
            </a:r>
          </a:p>
        </p:txBody>
      </p:sp>
      <p:sp>
        <p:nvSpPr>
          <p:cNvPr id="6" name="動作設定ボタン: ホームへ移動 5">
            <a:hlinkClick r:id="" action="ppaction://hlinkshowjump?jump=firstslide" highlightClick="1"/>
            <a:extLst>
              <a:ext uri="{FF2B5EF4-FFF2-40B4-BE49-F238E27FC236}">
                <a16:creationId xmlns:a16="http://schemas.microsoft.com/office/drawing/2014/main" id="{67D35879-2335-6FB2-8B3A-5D7AAEEC6921}"/>
              </a:ext>
            </a:extLst>
          </p:cNvPr>
          <p:cNvSpPr/>
          <p:nvPr/>
        </p:nvSpPr>
        <p:spPr>
          <a:xfrm>
            <a:off x="10190886" y="1135864"/>
            <a:ext cx="894944" cy="856034"/>
          </a:xfrm>
          <a:prstGeom prst="actionButtonHom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4C4DFE51-57E2-DAF4-C6A8-CFBA04CBC1DC}"/>
              </a:ext>
            </a:extLst>
          </p:cNvPr>
          <p:cNvSpPr txBox="1"/>
          <p:nvPr/>
        </p:nvSpPr>
        <p:spPr>
          <a:xfrm>
            <a:off x="250267" y="1859778"/>
            <a:ext cx="19411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予約者</a:t>
            </a:r>
            <a:endParaRPr lang="en-US" altLang="ja-JP" sz="3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74D4A38-0996-075F-260F-5DAB7DE5518A}"/>
              </a:ext>
            </a:extLst>
          </p:cNvPr>
          <p:cNvSpPr txBox="1"/>
          <p:nvPr/>
        </p:nvSpPr>
        <p:spPr>
          <a:xfrm>
            <a:off x="7417869" y="1333048"/>
            <a:ext cx="27730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 b="1" dirty="0"/>
              <a:t>りざっとシステム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BC61061-B7A5-9C63-AAAD-730B486E73D8}"/>
              </a:ext>
            </a:extLst>
          </p:cNvPr>
          <p:cNvSpPr txBox="1"/>
          <p:nvPr/>
        </p:nvSpPr>
        <p:spPr>
          <a:xfrm>
            <a:off x="4768031" y="3486705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個人アカウント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7EB9892-1924-00CA-0868-70FBCABF2A6C}"/>
              </a:ext>
            </a:extLst>
          </p:cNvPr>
          <p:cNvSpPr txBox="1"/>
          <p:nvPr/>
        </p:nvSpPr>
        <p:spPr>
          <a:xfrm>
            <a:off x="9638752" y="3482143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公演情報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0B59F48C-8C58-6861-185D-66D8CDF7AA4F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1991729" y="3617795"/>
            <a:ext cx="2776302" cy="381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A47AB4C-D3ED-1679-BBF6-06C4FFFDF3DD}"/>
              </a:ext>
            </a:extLst>
          </p:cNvPr>
          <p:cNvSpPr txBox="1"/>
          <p:nvPr/>
        </p:nvSpPr>
        <p:spPr>
          <a:xfrm>
            <a:off x="1833826" y="3329111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作成・ログイン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72F8A8D1-3AFE-997A-CDF4-F33836209E40}"/>
              </a:ext>
            </a:extLst>
          </p:cNvPr>
          <p:cNvCxnSpPr>
            <a:cxnSpLocks/>
            <a:stCxn id="17" idx="3"/>
            <a:endCxn id="26" idx="1"/>
          </p:cNvCxnSpPr>
          <p:nvPr/>
        </p:nvCxnSpPr>
        <p:spPr>
          <a:xfrm flipV="1">
            <a:off x="6534578" y="3651420"/>
            <a:ext cx="3104174" cy="4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6AFECDF8-A813-5511-8125-3DF1EC64FC4F}"/>
              </a:ext>
            </a:extLst>
          </p:cNvPr>
          <p:cNvSpPr txBox="1"/>
          <p:nvPr/>
        </p:nvSpPr>
        <p:spPr>
          <a:xfrm>
            <a:off x="6494214" y="3337135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予約登録・変更・取消</a:t>
            </a:r>
            <a:endParaRPr kumimoji="1" lang="ja-JP" altLang="en-US" sz="1400" dirty="0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22F7A2EA-C291-8D16-F811-9D35225EF1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168" y="2645029"/>
            <a:ext cx="1551561" cy="1945532"/>
          </a:xfrm>
          <a:prstGeom prst="rect">
            <a:avLst/>
          </a:prstGeom>
        </p:spPr>
      </p:pic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AF24DD17-3EC4-B195-2400-E7C93B2B07CF}"/>
              </a:ext>
            </a:extLst>
          </p:cNvPr>
          <p:cNvCxnSpPr>
            <a:cxnSpLocks/>
            <a:stCxn id="2" idx="3"/>
            <a:endCxn id="26" idx="0"/>
          </p:cNvCxnSpPr>
          <p:nvPr/>
        </p:nvCxnSpPr>
        <p:spPr>
          <a:xfrm flipV="1">
            <a:off x="1991729" y="3482143"/>
            <a:ext cx="8530297" cy="135652"/>
          </a:xfrm>
          <a:prstGeom prst="bentConnector4">
            <a:avLst>
              <a:gd name="adj1" fmla="val 121"/>
              <a:gd name="adj2" fmla="val 65615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E4780C-86EC-4CD8-5EC7-CB3D80EC587E}"/>
              </a:ext>
            </a:extLst>
          </p:cNvPr>
          <p:cNvSpPr txBox="1"/>
          <p:nvPr/>
        </p:nvSpPr>
        <p:spPr>
          <a:xfrm>
            <a:off x="6597517" y="2371671"/>
            <a:ext cx="3593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予約登録・変更・取消（メールアドレス）</a:t>
            </a:r>
            <a:endParaRPr kumimoji="1" lang="ja-JP" altLang="en-US" sz="14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879ACA2-2850-6630-550C-195AE82DD23E}"/>
              </a:ext>
            </a:extLst>
          </p:cNvPr>
          <p:cNvSpPr txBox="1"/>
          <p:nvPr/>
        </p:nvSpPr>
        <p:spPr>
          <a:xfrm>
            <a:off x="9638751" y="4386829"/>
            <a:ext cx="1766547" cy="584775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個人アカウント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（管理者）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9D83C222-B2FE-B560-9FC4-F87767B4DA74}"/>
              </a:ext>
            </a:extLst>
          </p:cNvPr>
          <p:cNvSpPr txBox="1"/>
          <p:nvPr/>
        </p:nvSpPr>
        <p:spPr>
          <a:xfrm>
            <a:off x="9638750" y="5614775"/>
            <a:ext cx="1766547" cy="338554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団体アカウント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5F8136A4-A154-AA05-D1A7-A63AE4D8CB10}"/>
              </a:ext>
            </a:extLst>
          </p:cNvPr>
          <p:cNvCxnSpPr>
            <a:cxnSpLocks/>
            <a:stCxn id="17" idx="2"/>
            <a:endCxn id="24" idx="1"/>
          </p:cNvCxnSpPr>
          <p:nvPr/>
        </p:nvCxnSpPr>
        <p:spPr>
          <a:xfrm>
            <a:off x="5651305" y="3825259"/>
            <a:ext cx="3987446" cy="853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9121B3E2-9FB5-1E7A-8239-BA9EBBD22803}"/>
              </a:ext>
            </a:extLst>
          </p:cNvPr>
          <p:cNvCxnSpPr>
            <a:cxnSpLocks/>
            <a:stCxn id="17" idx="2"/>
            <a:endCxn id="25" idx="1"/>
          </p:cNvCxnSpPr>
          <p:nvPr/>
        </p:nvCxnSpPr>
        <p:spPr>
          <a:xfrm>
            <a:off x="5651305" y="3825259"/>
            <a:ext cx="3987445" cy="19587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BAD02315-48DE-B9F1-DC9E-65CA02428CF1}"/>
              </a:ext>
            </a:extLst>
          </p:cNvPr>
          <p:cNvSpPr txBox="1"/>
          <p:nvPr/>
        </p:nvSpPr>
        <p:spPr>
          <a:xfrm rot="663549">
            <a:off x="6319579" y="3935938"/>
            <a:ext cx="2196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フォロー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82DD254-8072-D4A7-22BC-E4779B10CF24}"/>
              </a:ext>
            </a:extLst>
          </p:cNvPr>
          <p:cNvSpPr txBox="1"/>
          <p:nvPr/>
        </p:nvSpPr>
        <p:spPr>
          <a:xfrm rot="1482842">
            <a:off x="6819634" y="4361627"/>
            <a:ext cx="9847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フォロー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6267AF57-37A2-A240-5FC8-A1126BB7A52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001068" cy="318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1400">
                <a:latin typeface="HGS明朝E" panose="02020900000000000000" pitchFamily="18" charset="-128"/>
                <a:ea typeface="HGS明朝E" panose="02020900000000000000" pitchFamily="18" charset="-128"/>
              </a:rPr>
              <a:t>Chapter 1 : </a:t>
            </a:r>
            <a:r>
              <a:rPr lang="ja-JP" altLang="en-US" sz="1400">
                <a:latin typeface="HGS明朝E" panose="02020900000000000000" pitchFamily="18" charset="-128"/>
                <a:ea typeface="HGS明朝E" panose="02020900000000000000" pitchFamily="18" charset="-128"/>
              </a:rPr>
              <a:t>全体概要</a:t>
            </a:r>
            <a:endParaRPr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94923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239D2-0EF0-97EE-BAFA-7DBA7EC77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79C2FFEF-0E56-EC1A-E755-1C6546D619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99A6D565-EDB8-6E6D-C13D-14B6D4767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71B6D47-AF2C-35DC-DEEA-73F7DFBE8811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79EDDA9-DA2F-5D3C-2B97-F3578BD5D015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システム概要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2B5710-FEF5-6469-58B0-E3695F2E1368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システム概要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28708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2B8BA7-55E3-3C20-7A19-4C1FF372B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4617DF1-63CB-62B2-6418-C7BE0C343028}"/>
              </a:ext>
            </a:extLst>
          </p:cNvPr>
          <p:cNvSpPr/>
          <p:nvPr/>
        </p:nvSpPr>
        <p:spPr>
          <a:xfrm>
            <a:off x="118353" y="904671"/>
            <a:ext cx="11955293" cy="58320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7254D3-85D2-2CC4-4A21-04CC8339501A}"/>
              </a:ext>
            </a:extLst>
          </p:cNvPr>
          <p:cNvSpPr/>
          <p:nvPr/>
        </p:nvSpPr>
        <p:spPr>
          <a:xfrm>
            <a:off x="222140" y="2406721"/>
            <a:ext cx="1240290" cy="330321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09378619-8919-C08D-09F1-12B458F9D80E}"/>
              </a:ext>
            </a:extLst>
          </p:cNvPr>
          <p:cNvSpPr/>
          <p:nvPr/>
        </p:nvSpPr>
        <p:spPr>
          <a:xfrm>
            <a:off x="2633688" y="1474417"/>
            <a:ext cx="5694951" cy="48972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D83A48D-C23B-B798-B0C1-80812893E938}"/>
              </a:ext>
            </a:extLst>
          </p:cNvPr>
          <p:cNvSpPr/>
          <p:nvPr/>
        </p:nvSpPr>
        <p:spPr>
          <a:xfrm>
            <a:off x="2907712" y="3068685"/>
            <a:ext cx="1342190" cy="1550767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FD71324-81EF-43E2-B5AF-317ED2BE4D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 fontScale="85000" lnSpcReduction="10000"/>
          </a:bodyPr>
          <a:lstStyle/>
          <a:p>
            <a:r>
              <a:rPr kumimoji="1"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2 : </a:t>
            </a:r>
            <a:r>
              <a:rPr kumimoji="1"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システム概要</a:t>
            </a: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4EEFE459-E05E-586E-D660-445F24CD1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5AC3375-903F-2506-6958-E77F9513756C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EF338AAB-C178-E288-9DE9-41904E99D52B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1 : MVC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概要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4E866A2-4558-05E8-96C2-175577307A1C}"/>
              </a:ext>
            </a:extLst>
          </p:cNvPr>
          <p:cNvSpPr/>
          <p:nvPr/>
        </p:nvSpPr>
        <p:spPr>
          <a:xfrm>
            <a:off x="9401915" y="1474417"/>
            <a:ext cx="2459345" cy="195458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" name="図 12" descr="おもちゃ, 時計, 記号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475DE8F3-70D5-E6F2-B1A1-EFB7AA486E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740" y="2531040"/>
            <a:ext cx="1042154" cy="1138966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FE3B2FCC-E38A-8918-D1E3-5D5110491B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7819" y="4111844"/>
            <a:ext cx="908325" cy="1138966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75D4030-8665-7EEF-292A-660FB4BF10E8}"/>
              </a:ext>
            </a:extLst>
          </p:cNvPr>
          <p:cNvSpPr txBox="1"/>
          <p:nvPr/>
        </p:nvSpPr>
        <p:spPr>
          <a:xfrm>
            <a:off x="384900" y="3670006"/>
            <a:ext cx="8541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管理者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465894A0-3BF6-0C64-03AE-D6F5D786A1A6}"/>
              </a:ext>
            </a:extLst>
          </p:cNvPr>
          <p:cNvSpPr txBox="1"/>
          <p:nvPr/>
        </p:nvSpPr>
        <p:spPr>
          <a:xfrm>
            <a:off x="384900" y="5250810"/>
            <a:ext cx="8541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予約者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ACEF55-30E6-D437-1093-F4D8A84E32E6}"/>
              </a:ext>
            </a:extLst>
          </p:cNvPr>
          <p:cNvSpPr txBox="1"/>
          <p:nvPr/>
        </p:nvSpPr>
        <p:spPr>
          <a:xfrm>
            <a:off x="2967545" y="3120497"/>
            <a:ext cx="11537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Controller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102EA15-2154-090C-9915-F19940A75E74}"/>
              </a:ext>
            </a:extLst>
          </p:cNvPr>
          <p:cNvSpPr txBox="1"/>
          <p:nvPr/>
        </p:nvSpPr>
        <p:spPr>
          <a:xfrm>
            <a:off x="4382156" y="1135864"/>
            <a:ext cx="21980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Java(Spring boot)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4C1399A0-5797-F0E8-9910-7F7BBF7CCC37}"/>
              </a:ext>
            </a:extLst>
          </p:cNvPr>
          <p:cNvSpPr txBox="1"/>
          <p:nvPr/>
        </p:nvSpPr>
        <p:spPr>
          <a:xfrm>
            <a:off x="2967545" y="3583370"/>
            <a:ext cx="1228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Java</a:t>
            </a:r>
          </a:p>
          <a:p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クラス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Controller</a:t>
            </a:r>
          </a:p>
        </p:txBody>
      </p:sp>
      <p:pic>
        <p:nvPicPr>
          <p:cNvPr id="32" name="図 31" descr="図形">
            <a:extLst>
              <a:ext uri="{FF2B5EF4-FFF2-40B4-BE49-F238E27FC236}">
                <a16:creationId xmlns:a16="http://schemas.microsoft.com/office/drawing/2014/main" id="{BBF8C84F-BB47-0377-5452-B898B1F2595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096149" y="1135864"/>
            <a:ext cx="637217" cy="637217"/>
          </a:xfrm>
          <a:prstGeom prst="rect">
            <a:avLst/>
          </a:prstGeom>
        </p:spPr>
      </p:pic>
      <p:pic>
        <p:nvPicPr>
          <p:cNvPr id="35" name="図 34" descr="アイコン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D02EC60-E89C-A6F7-DCAC-615E625496F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264355" y="1225898"/>
            <a:ext cx="738664" cy="738664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4BA08EA-46CC-6565-8927-36682E977FE5}"/>
              </a:ext>
            </a:extLst>
          </p:cNvPr>
          <p:cNvSpPr txBox="1"/>
          <p:nvPr/>
        </p:nvSpPr>
        <p:spPr>
          <a:xfrm>
            <a:off x="9532580" y="1115467"/>
            <a:ext cx="21980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DB(MySQL)</a:t>
            </a: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E8283B5-4855-4767-20AD-9FDA173D655F}"/>
              </a:ext>
            </a:extLst>
          </p:cNvPr>
          <p:cNvSpPr txBox="1"/>
          <p:nvPr/>
        </p:nvSpPr>
        <p:spPr>
          <a:xfrm>
            <a:off x="1408141" y="3096006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リクエスト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5D88747-18FC-3F2E-B5B8-510C4CE22EC3}"/>
              </a:ext>
            </a:extLst>
          </p:cNvPr>
          <p:cNvSpPr txBox="1"/>
          <p:nvPr/>
        </p:nvSpPr>
        <p:spPr>
          <a:xfrm>
            <a:off x="1586547" y="4058329"/>
            <a:ext cx="1042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レスポンス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56" name="矢印: 右 55">
            <a:extLst>
              <a:ext uri="{FF2B5EF4-FFF2-40B4-BE49-F238E27FC236}">
                <a16:creationId xmlns:a16="http://schemas.microsoft.com/office/drawing/2014/main" id="{C9E4B77D-2861-2736-D746-92D81F621262}"/>
              </a:ext>
            </a:extLst>
          </p:cNvPr>
          <p:cNvSpPr/>
          <p:nvPr/>
        </p:nvSpPr>
        <p:spPr>
          <a:xfrm>
            <a:off x="1511994" y="3370824"/>
            <a:ext cx="1303063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1FBDD7EA-DFF9-3E5C-1B95-771A23F44D17}"/>
              </a:ext>
            </a:extLst>
          </p:cNvPr>
          <p:cNvSpPr/>
          <p:nvPr/>
        </p:nvSpPr>
        <p:spPr>
          <a:xfrm rot="10800000">
            <a:off x="1507489" y="4310622"/>
            <a:ext cx="1303619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E2B15BC-C407-75C6-695D-CF3AEFEC91F0}"/>
              </a:ext>
            </a:extLst>
          </p:cNvPr>
          <p:cNvSpPr/>
          <p:nvPr/>
        </p:nvSpPr>
        <p:spPr>
          <a:xfrm>
            <a:off x="5617446" y="4619452"/>
            <a:ext cx="1342190" cy="1550767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3D0FB264-2D69-0BC9-D0E2-AFE5C90D5108}"/>
              </a:ext>
            </a:extLst>
          </p:cNvPr>
          <p:cNvSpPr txBox="1"/>
          <p:nvPr/>
        </p:nvSpPr>
        <p:spPr>
          <a:xfrm>
            <a:off x="5677279" y="4671264"/>
            <a:ext cx="11537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View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DA720501-E87F-404F-3298-05A82ACA572B}"/>
              </a:ext>
            </a:extLst>
          </p:cNvPr>
          <p:cNvSpPr txBox="1"/>
          <p:nvPr/>
        </p:nvSpPr>
        <p:spPr>
          <a:xfrm>
            <a:off x="5677279" y="5134137"/>
            <a:ext cx="12285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html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css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javascript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25C5529-20EB-4504-99B1-320D803EF59A}"/>
              </a:ext>
            </a:extLst>
          </p:cNvPr>
          <p:cNvSpPr/>
          <p:nvPr/>
        </p:nvSpPr>
        <p:spPr>
          <a:xfrm>
            <a:off x="5616219" y="1675662"/>
            <a:ext cx="1342190" cy="1906970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テキスト ボックス 65">
            <a:extLst>
              <a:ext uri="{FF2B5EF4-FFF2-40B4-BE49-F238E27FC236}">
                <a16:creationId xmlns:a16="http://schemas.microsoft.com/office/drawing/2014/main" id="{D88C1D97-09C4-A70B-9A9E-187C5033D6E2}"/>
              </a:ext>
            </a:extLst>
          </p:cNvPr>
          <p:cNvSpPr txBox="1"/>
          <p:nvPr/>
        </p:nvSpPr>
        <p:spPr>
          <a:xfrm>
            <a:off x="5676052" y="1727474"/>
            <a:ext cx="11537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Model</a:t>
            </a:r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6A6DBC19-C5DF-C671-E38E-749E81646FBB}"/>
              </a:ext>
            </a:extLst>
          </p:cNvPr>
          <p:cNvSpPr txBox="1"/>
          <p:nvPr/>
        </p:nvSpPr>
        <p:spPr>
          <a:xfrm>
            <a:off x="5676052" y="2190347"/>
            <a:ext cx="122851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Java</a:t>
            </a:r>
          </a:p>
          <a:p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クラス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Service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Repository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Entity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234222E4-33FB-5C82-42ED-3C9B668E4821}"/>
              </a:ext>
            </a:extLst>
          </p:cNvPr>
          <p:cNvSpPr txBox="1"/>
          <p:nvPr/>
        </p:nvSpPr>
        <p:spPr>
          <a:xfrm>
            <a:off x="3853052" y="2367926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処理を指示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0632FF5D-97B1-042A-B47B-6EC90225E864}"/>
              </a:ext>
            </a:extLst>
          </p:cNvPr>
          <p:cNvSpPr txBox="1"/>
          <p:nvPr/>
        </p:nvSpPr>
        <p:spPr>
          <a:xfrm>
            <a:off x="3693019" y="1751852"/>
            <a:ext cx="1042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処理結果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256CC15E-DCAC-8735-64A4-56FE6143E58A}"/>
              </a:ext>
            </a:extLst>
          </p:cNvPr>
          <p:cNvSpPr txBox="1"/>
          <p:nvPr/>
        </p:nvSpPr>
        <p:spPr>
          <a:xfrm>
            <a:off x="3833881" y="4746922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画面表示を指示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60D841C-69E6-5A4E-43FE-36457A1048C4}"/>
              </a:ext>
            </a:extLst>
          </p:cNvPr>
          <p:cNvSpPr txBox="1"/>
          <p:nvPr/>
        </p:nvSpPr>
        <p:spPr>
          <a:xfrm>
            <a:off x="3881841" y="5369243"/>
            <a:ext cx="1042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画面表示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74" name="矢印: 上向き折線 73">
            <a:extLst>
              <a:ext uri="{FF2B5EF4-FFF2-40B4-BE49-F238E27FC236}">
                <a16:creationId xmlns:a16="http://schemas.microsoft.com/office/drawing/2014/main" id="{13945A8A-4479-2DEC-880F-BB972106AAE8}"/>
              </a:ext>
            </a:extLst>
          </p:cNvPr>
          <p:cNvSpPr/>
          <p:nvPr/>
        </p:nvSpPr>
        <p:spPr>
          <a:xfrm rot="5400000">
            <a:off x="4345935" y="4092640"/>
            <a:ext cx="515625" cy="1698695"/>
          </a:xfrm>
          <a:prstGeom prst="bentUpArrow">
            <a:avLst>
              <a:gd name="adj1" fmla="val 13681"/>
              <a:gd name="adj2" fmla="val 26969"/>
              <a:gd name="adj3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5" name="矢印: 上向き折線 74">
            <a:extLst>
              <a:ext uri="{FF2B5EF4-FFF2-40B4-BE49-F238E27FC236}">
                <a16:creationId xmlns:a16="http://schemas.microsoft.com/office/drawing/2014/main" id="{EED23AE1-66D9-D19A-5572-3D00D049F0F8}"/>
              </a:ext>
            </a:extLst>
          </p:cNvPr>
          <p:cNvSpPr/>
          <p:nvPr/>
        </p:nvSpPr>
        <p:spPr>
          <a:xfrm rot="10800000" flipV="1">
            <a:off x="3175982" y="4805464"/>
            <a:ext cx="2222298" cy="952081"/>
          </a:xfrm>
          <a:prstGeom prst="bentUpArrow">
            <a:avLst>
              <a:gd name="adj1" fmla="val 9674"/>
              <a:gd name="adj2" fmla="val 12228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CA03D476-25AF-6337-83BF-93E53AFBB387}"/>
              </a:ext>
            </a:extLst>
          </p:cNvPr>
          <p:cNvSpPr txBox="1"/>
          <p:nvPr/>
        </p:nvSpPr>
        <p:spPr>
          <a:xfrm>
            <a:off x="8344140" y="1777358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データ保存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52859506-0D82-AAB5-ACF8-6AFC6E52C418}"/>
              </a:ext>
            </a:extLst>
          </p:cNvPr>
          <p:cNvSpPr txBox="1"/>
          <p:nvPr/>
        </p:nvSpPr>
        <p:spPr>
          <a:xfrm>
            <a:off x="7110957" y="2359781"/>
            <a:ext cx="10421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データ取得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78" name="矢印: 右 77">
            <a:extLst>
              <a:ext uri="{FF2B5EF4-FFF2-40B4-BE49-F238E27FC236}">
                <a16:creationId xmlns:a16="http://schemas.microsoft.com/office/drawing/2014/main" id="{0B3FECE0-CA91-1CA0-50E4-F993F49CBE6A}"/>
              </a:ext>
            </a:extLst>
          </p:cNvPr>
          <p:cNvSpPr/>
          <p:nvPr/>
        </p:nvSpPr>
        <p:spPr>
          <a:xfrm>
            <a:off x="7082527" y="2051215"/>
            <a:ext cx="2256659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9" name="矢印: 右 78">
            <a:extLst>
              <a:ext uri="{FF2B5EF4-FFF2-40B4-BE49-F238E27FC236}">
                <a16:creationId xmlns:a16="http://schemas.microsoft.com/office/drawing/2014/main" id="{9277FB52-12BC-7875-A616-72B78204BCE8}"/>
              </a:ext>
            </a:extLst>
          </p:cNvPr>
          <p:cNvSpPr/>
          <p:nvPr/>
        </p:nvSpPr>
        <p:spPr>
          <a:xfrm rot="10809541">
            <a:off x="7078579" y="2616565"/>
            <a:ext cx="2256659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0" name="テキスト ボックス 79">
            <a:extLst>
              <a:ext uri="{FF2B5EF4-FFF2-40B4-BE49-F238E27FC236}">
                <a16:creationId xmlns:a16="http://schemas.microsoft.com/office/drawing/2014/main" id="{973ADDC1-80D2-6734-EB47-A93724C5DD11}"/>
              </a:ext>
            </a:extLst>
          </p:cNvPr>
          <p:cNvSpPr txBox="1"/>
          <p:nvPr/>
        </p:nvSpPr>
        <p:spPr>
          <a:xfrm>
            <a:off x="9627698" y="1773081"/>
            <a:ext cx="21028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個人アカウント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団体アカウント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公演情報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予約情報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…</a:t>
            </a:r>
            <a:r>
              <a:rPr lang="en-US" altLang="ja-JP" sz="1400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etc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83" name="正方形/長方形 82">
            <a:extLst>
              <a:ext uri="{FF2B5EF4-FFF2-40B4-BE49-F238E27FC236}">
                <a16:creationId xmlns:a16="http://schemas.microsoft.com/office/drawing/2014/main" id="{9D60A163-9AF6-9CFD-7B07-460B800E51EF}"/>
              </a:ext>
            </a:extLst>
          </p:cNvPr>
          <p:cNvSpPr/>
          <p:nvPr/>
        </p:nvSpPr>
        <p:spPr>
          <a:xfrm>
            <a:off x="9401914" y="3895650"/>
            <a:ext cx="2459345" cy="10760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82" name="図 81" descr="図形, 矢印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E78C3A2B-9B3C-A597-F4B0-9B7EDAA540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9075555" y="3645634"/>
            <a:ext cx="678403" cy="412695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E57C483C-724E-364A-BC89-E29ACEC50D94}"/>
              </a:ext>
            </a:extLst>
          </p:cNvPr>
          <p:cNvSpPr txBox="1"/>
          <p:nvPr/>
        </p:nvSpPr>
        <p:spPr>
          <a:xfrm>
            <a:off x="9627698" y="4171453"/>
            <a:ext cx="21028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予約完了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予約通知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その他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C8EC190-1C8C-5E2A-1F9D-14E4F58C3DC0}"/>
              </a:ext>
            </a:extLst>
          </p:cNvPr>
          <p:cNvSpPr txBox="1"/>
          <p:nvPr/>
        </p:nvSpPr>
        <p:spPr>
          <a:xfrm>
            <a:off x="9528291" y="3507434"/>
            <a:ext cx="21980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Google Mail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99893BD5-1ADE-2A86-6164-030545F63FAD}"/>
              </a:ext>
            </a:extLst>
          </p:cNvPr>
          <p:cNvSpPr/>
          <p:nvPr/>
        </p:nvSpPr>
        <p:spPr>
          <a:xfrm rot="1214460">
            <a:off x="6970421" y="3678326"/>
            <a:ext cx="2256659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7" name="テキスト ボックス 86">
            <a:extLst>
              <a:ext uri="{FF2B5EF4-FFF2-40B4-BE49-F238E27FC236}">
                <a16:creationId xmlns:a16="http://schemas.microsoft.com/office/drawing/2014/main" id="{AE3DF14E-80F5-5E7E-725E-563750E0A21C}"/>
              </a:ext>
            </a:extLst>
          </p:cNvPr>
          <p:cNvSpPr txBox="1"/>
          <p:nvPr/>
        </p:nvSpPr>
        <p:spPr>
          <a:xfrm rot="1215017">
            <a:off x="8239486" y="3723674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データ送信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88" name="正方形/長方形 87">
            <a:extLst>
              <a:ext uri="{FF2B5EF4-FFF2-40B4-BE49-F238E27FC236}">
                <a16:creationId xmlns:a16="http://schemas.microsoft.com/office/drawing/2014/main" id="{7449DEE8-3D7D-751E-C9A9-9EEF3B1A458C}"/>
              </a:ext>
            </a:extLst>
          </p:cNvPr>
          <p:cNvSpPr/>
          <p:nvPr/>
        </p:nvSpPr>
        <p:spPr>
          <a:xfrm>
            <a:off x="9408206" y="5370439"/>
            <a:ext cx="2459345" cy="107605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F0B67200-BD4E-4E24-CD4A-12586A824A79}"/>
              </a:ext>
            </a:extLst>
          </p:cNvPr>
          <p:cNvSpPr txBox="1"/>
          <p:nvPr/>
        </p:nvSpPr>
        <p:spPr>
          <a:xfrm>
            <a:off x="9633990" y="5646242"/>
            <a:ext cx="21028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予約リスト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その他</a:t>
            </a:r>
            <a:endParaRPr lang="en-US" altLang="ja-JP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2598C1E8-DCC6-307C-0ACB-395DAE4E3D48}"/>
              </a:ext>
            </a:extLst>
          </p:cNvPr>
          <p:cNvSpPr txBox="1"/>
          <p:nvPr/>
        </p:nvSpPr>
        <p:spPr>
          <a:xfrm>
            <a:off x="9534583" y="5009818"/>
            <a:ext cx="21980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Excel</a:t>
            </a:r>
          </a:p>
        </p:txBody>
      </p:sp>
      <p:sp>
        <p:nvSpPr>
          <p:cNvPr id="91" name="矢印: 右 90">
            <a:extLst>
              <a:ext uri="{FF2B5EF4-FFF2-40B4-BE49-F238E27FC236}">
                <a16:creationId xmlns:a16="http://schemas.microsoft.com/office/drawing/2014/main" id="{2266B772-512F-57B1-4B49-7F53E73FC146}"/>
              </a:ext>
            </a:extLst>
          </p:cNvPr>
          <p:cNvSpPr/>
          <p:nvPr/>
        </p:nvSpPr>
        <p:spPr>
          <a:xfrm rot="2293486">
            <a:off x="6659579" y="4592551"/>
            <a:ext cx="2956802" cy="18572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2" name="テキスト ボックス 91">
            <a:extLst>
              <a:ext uri="{FF2B5EF4-FFF2-40B4-BE49-F238E27FC236}">
                <a16:creationId xmlns:a16="http://schemas.microsoft.com/office/drawing/2014/main" id="{DFAE3869-41D9-DC16-C2EA-812B38691C39}"/>
              </a:ext>
            </a:extLst>
          </p:cNvPr>
          <p:cNvSpPr txBox="1"/>
          <p:nvPr/>
        </p:nvSpPr>
        <p:spPr>
          <a:xfrm rot="2196053">
            <a:off x="8307563" y="4961083"/>
            <a:ext cx="13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 dirty="0">
                <a:latin typeface="HGS明朝E" panose="02020900000000000000" pitchFamily="18" charset="-128"/>
                <a:ea typeface="HGS明朝E" panose="02020900000000000000" pitchFamily="18" charset="-128"/>
              </a:rPr>
              <a:t>データ送信</a:t>
            </a:r>
            <a:endParaRPr lang="en-US" altLang="ja-JP" sz="12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1B1BC6E-3A66-5456-484C-D9EB89E187C3}"/>
              </a:ext>
            </a:extLst>
          </p:cNvPr>
          <p:cNvSpPr txBox="1"/>
          <p:nvPr/>
        </p:nvSpPr>
        <p:spPr>
          <a:xfrm>
            <a:off x="251361" y="1003640"/>
            <a:ext cx="1200912" cy="769441"/>
          </a:xfrm>
          <a:prstGeom prst="rect">
            <a:avLst/>
          </a:prstGeom>
          <a:solidFill>
            <a:srgbClr val="FFFF00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100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sakura</a:t>
            </a:r>
            <a:r>
              <a:rPr lang="en-US" altLang="ja-JP" sz="1100" dirty="0">
                <a:latin typeface="HGS明朝E" panose="02020900000000000000" pitchFamily="18" charset="-128"/>
                <a:ea typeface="HGS明朝E" panose="02020900000000000000" pitchFamily="18" charset="-128"/>
              </a:rPr>
              <a:t> </a:t>
            </a:r>
            <a:r>
              <a:rPr lang="en-US" altLang="ja-JP" sz="1100" dirty="0" err="1">
                <a:latin typeface="HGS明朝E" panose="02020900000000000000" pitchFamily="18" charset="-128"/>
                <a:ea typeface="HGS明朝E" panose="02020900000000000000" pitchFamily="18" charset="-128"/>
              </a:rPr>
              <a:t>vps</a:t>
            </a:r>
            <a:endParaRPr lang="en-US" altLang="ja-JP" sz="11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100" dirty="0">
                <a:latin typeface="HGS明朝E" panose="02020900000000000000" pitchFamily="18" charset="-128"/>
                <a:ea typeface="HGS明朝E" panose="02020900000000000000" pitchFamily="18" charset="-128"/>
              </a:rPr>
              <a:t>Centos 9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100" dirty="0">
                <a:latin typeface="HGS明朝E" panose="02020900000000000000" pitchFamily="18" charset="-128"/>
                <a:ea typeface="HGS明朝E" panose="02020900000000000000" pitchFamily="18" charset="-128"/>
              </a:rPr>
              <a:t>Java 21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100" dirty="0">
                <a:latin typeface="HGS明朝E" panose="02020900000000000000" pitchFamily="18" charset="-128"/>
                <a:ea typeface="HGS明朝E" panose="02020900000000000000" pitchFamily="18" charset="-128"/>
              </a:rPr>
              <a:t>MySQL ?</a:t>
            </a:r>
          </a:p>
        </p:txBody>
      </p:sp>
      <p:sp>
        <p:nvSpPr>
          <p:cNvPr id="6" name="矢印: 上向き折線 5">
            <a:extLst>
              <a:ext uri="{FF2B5EF4-FFF2-40B4-BE49-F238E27FC236}">
                <a16:creationId xmlns:a16="http://schemas.microsoft.com/office/drawing/2014/main" id="{AEB531A1-553F-DD09-824E-C80743F7ACAE}"/>
              </a:ext>
            </a:extLst>
          </p:cNvPr>
          <p:cNvSpPr/>
          <p:nvPr/>
        </p:nvSpPr>
        <p:spPr>
          <a:xfrm rot="16200000" flipV="1">
            <a:off x="4313018" y="1670892"/>
            <a:ext cx="515625" cy="1632862"/>
          </a:xfrm>
          <a:prstGeom prst="bentUpArrow">
            <a:avLst>
              <a:gd name="adj1" fmla="val 13681"/>
              <a:gd name="adj2" fmla="val 26969"/>
              <a:gd name="adj3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矢印: 上向き折線 6">
            <a:extLst>
              <a:ext uri="{FF2B5EF4-FFF2-40B4-BE49-F238E27FC236}">
                <a16:creationId xmlns:a16="http://schemas.microsoft.com/office/drawing/2014/main" id="{035FB23C-603F-0F7C-248F-FCF294691AE7}"/>
              </a:ext>
            </a:extLst>
          </p:cNvPr>
          <p:cNvSpPr/>
          <p:nvPr/>
        </p:nvSpPr>
        <p:spPr>
          <a:xfrm flipH="1" flipV="1">
            <a:off x="3139290" y="2009881"/>
            <a:ext cx="2258990" cy="952081"/>
          </a:xfrm>
          <a:prstGeom prst="bentUpArrow">
            <a:avLst>
              <a:gd name="adj1" fmla="val 9674"/>
              <a:gd name="adj2" fmla="val 12228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F60A9CA-044E-ADEC-D70D-24A0D40B1403}"/>
              </a:ext>
            </a:extLst>
          </p:cNvPr>
          <p:cNvSpPr txBox="1"/>
          <p:nvPr/>
        </p:nvSpPr>
        <p:spPr>
          <a:xfrm>
            <a:off x="286197" y="2018342"/>
            <a:ext cx="113124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 dirty="0">
                <a:latin typeface="HGS明朝E" panose="02020900000000000000" pitchFamily="18" charset="-128"/>
                <a:ea typeface="HGS明朝E" panose="02020900000000000000" pitchFamily="18" charset="-128"/>
              </a:rPr>
              <a:t>ユーザー</a:t>
            </a:r>
            <a:endParaRPr lang="en-US" altLang="ja-JP" sz="16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4593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3019E-BE2C-5C1B-9F2E-CF6199A98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4DF2CE82-F51B-F932-ECC2-15402D28CF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チケット予約システム</a:t>
            </a:r>
            <a:endParaRPr kumimoji="1"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6E1BB0A0-C38C-79FD-CA44-56697AD6C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FF2FDB34-3A26-8D66-F738-678894F5B56F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9413587-649C-4D45-9DE9-37963480B4E6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画面設計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31D4DAB-4B54-91ED-3815-33D209A200D2}"/>
              </a:ext>
            </a:extLst>
          </p:cNvPr>
          <p:cNvSpPr txBox="1"/>
          <p:nvPr/>
        </p:nvSpPr>
        <p:spPr>
          <a:xfrm>
            <a:off x="1000534" y="3075057"/>
            <a:ext cx="105602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lang="ja-JP" altLang="en-US" sz="4000" dirty="0">
                <a:latin typeface="HGS明朝E" panose="02020900000000000000" pitchFamily="18" charset="-128"/>
                <a:ea typeface="HGS明朝E" panose="02020900000000000000" pitchFamily="18" charset="-128"/>
              </a:rPr>
              <a:t>画面設計</a:t>
            </a:r>
            <a:endParaRPr lang="en-US" altLang="ja-JP" sz="40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75117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53085-2A09-6328-8FD9-656714B56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字幕 2">
            <a:extLst>
              <a:ext uri="{FF2B5EF4-FFF2-40B4-BE49-F238E27FC236}">
                <a16:creationId xmlns:a16="http://schemas.microsoft.com/office/drawing/2014/main" id="{CE358941-FB52-84EA-66AD-E70CB0753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0"/>
            <a:ext cx="2001068" cy="318986"/>
          </a:xfrm>
        </p:spPr>
        <p:txBody>
          <a:bodyPr>
            <a:normAutofit/>
          </a:bodyPr>
          <a:lstStyle/>
          <a:p>
            <a:pPr algn="l"/>
            <a:r>
              <a:rPr lang="en-US" altLang="ja-JP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lang="ja-JP" altLang="en-US" sz="1400" dirty="0">
                <a:latin typeface="HGS明朝E" panose="02020900000000000000" pitchFamily="18" charset="-128"/>
                <a:ea typeface="HGS明朝E" panose="02020900000000000000" pitchFamily="18" charset="-128"/>
              </a:rPr>
              <a:t>画面設計</a:t>
            </a:r>
          </a:p>
        </p:txBody>
      </p:sp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AC934DCE-385E-4DBF-1F9A-D5C7E6428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CEA1F0C-CC52-1352-D996-65234202EBB8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93219BB-3CE1-36C2-A336-EE07DA603D67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テンプレ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7C5591D-4D0A-0106-B726-7D44AC870690}"/>
              </a:ext>
            </a:extLst>
          </p:cNvPr>
          <p:cNvSpPr/>
          <p:nvPr/>
        </p:nvSpPr>
        <p:spPr>
          <a:xfrm>
            <a:off x="371475" y="1047750"/>
            <a:ext cx="11477625" cy="54959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950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039D-8A67-E9AC-D463-CAB048F1A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 descr="黒い背景に白い文字がある&#10;&#10;低い精度で自動的に生成された説明">
            <a:extLst>
              <a:ext uri="{FF2B5EF4-FFF2-40B4-BE49-F238E27FC236}">
                <a16:creationId xmlns:a16="http://schemas.microsoft.com/office/drawing/2014/main" id="{18A37A7A-1B7B-B5EB-E239-817CC845B5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2230" y="121271"/>
            <a:ext cx="2001068" cy="636703"/>
          </a:xfrm>
          <a:prstGeom prst="rect">
            <a:avLst/>
          </a:prstGeom>
        </p:spPr>
      </p:pic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2FE3D010-290A-C326-4F15-BA7A3D7123E6}"/>
              </a:ext>
            </a:extLst>
          </p:cNvPr>
          <p:cNvCxnSpPr>
            <a:cxnSpLocks/>
          </p:cNvCxnSpPr>
          <p:nvPr/>
        </p:nvCxnSpPr>
        <p:spPr>
          <a:xfrm>
            <a:off x="0" y="757974"/>
            <a:ext cx="9513651" cy="0"/>
          </a:xfrm>
          <a:prstGeom prst="line">
            <a:avLst/>
          </a:prstGeom>
          <a:ln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476534F-AFFE-0689-86B2-38DEE426770E}"/>
              </a:ext>
            </a:extLst>
          </p:cNvPr>
          <p:cNvSpPr txBox="1"/>
          <p:nvPr/>
        </p:nvSpPr>
        <p:spPr>
          <a:xfrm>
            <a:off x="1050587" y="233464"/>
            <a:ext cx="8463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Section 1 : </a:t>
            </a:r>
            <a:r>
              <a:rPr kumimoji="1" lang="ja-JP" altLang="en-US" sz="2800" dirty="0">
                <a:latin typeface="HGS明朝E" panose="02020900000000000000" pitchFamily="18" charset="-128"/>
                <a:ea typeface="HGS明朝E" panose="02020900000000000000" pitchFamily="18" charset="-128"/>
              </a:rPr>
              <a:t>ログイン画面（管理者）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874D4DB-3B9A-A28B-B2C0-6435470BCC90}"/>
              </a:ext>
            </a:extLst>
          </p:cNvPr>
          <p:cNvSpPr/>
          <p:nvPr/>
        </p:nvSpPr>
        <p:spPr>
          <a:xfrm>
            <a:off x="371475" y="1047750"/>
            <a:ext cx="11477625" cy="54959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6C1E81E-5A07-4BCB-5135-7F4983A82165}"/>
              </a:ext>
            </a:extLst>
          </p:cNvPr>
          <p:cNvSpPr/>
          <p:nvPr/>
        </p:nvSpPr>
        <p:spPr>
          <a:xfrm>
            <a:off x="371475" y="1046459"/>
            <a:ext cx="3657599" cy="5495909"/>
          </a:xfrm>
          <a:prstGeom prst="rect">
            <a:avLst/>
          </a:prstGeom>
          <a:solidFill>
            <a:srgbClr val="554ED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Cascadia Code SemiLight" panose="020B0609020000020004" pitchFamily="49" charset="0"/>
              </a:rPr>
              <a:t>公演管理画面</a:t>
            </a:r>
            <a:endParaRPr kumimoji="1" lang="en-US" altLang="ja-JP" dirty="0">
              <a:latin typeface="HGS創英角ｺﾞｼｯｸUB" panose="020B0900000000000000" pitchFamily="50" charset="-128"/>
              <a:ea typeface="HGS創英角ｺﾞｼｯｸUB" panose="020B0900000000000000" pitchFamily="50" charset="-128"/>
              <a:cs typeface="Cascadia Code SemiLight" panose="020B0609020000020004" pitchFamily="49" charset="0"/>
            </a:endParaRPr>
          </a:p>
          <a:p>
            <a:pPr algn="ctr"/>
            <a:r>
              <a:rPr kumimoji="1" lang="ja-JP" altLang="en-US" dirty="0">
                <a:latin typeface="HGS創英角ｺﾞｼｯｸUB" panose="020B0900000000000000" pitchFamily="50" charset="-128"/>
                <a:ea typeface="HGS創英角ｺﾞｼｯｸUB" panose="020B0900000000000000" pitchFamily="50" charset="-128"/>
                <a:cs typeface="Cascadia Code SemiLight" panose="020B0609020000020004" pitchFamily="49" charset="0"/>
              </a:rPr>
              <a:t>ログイン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8CC7E98-196C-F0A3-F3D7-CC3508E6D75B}"/>
              </a:ext>
            </a:extLst>
          </p:cNvPr>
          <p:cNvSpPr/>
          <p:nvPr/>
        </p:nvSpPr>
        <p:spPr>
          <a:xfrm>
            <a:off x="371475" y="1045166"/>
            <a:ext cx="933041" cy="54292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ロゴ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B7EFDB5-5D45-33F3-3D02-B12C3BE624FA}"/>
              </a:ext>
            </a:extLst>
          </p:cNvPr>
          <p:cNvSpPr/>
          <p:nvPr/>
        </p:nvSpPr>
        <p:spPr>
          <a:xfrm>
            <a:off x="534013" y="6181725"/>
            <a:ext cx="2675912" cy="36064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tx1"/>
                </a:solidFill>
              </a:rPr>
              <a:t>権利表記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7FF9E41-BA4C-545B-81E8-87A0F82A19A9}"/>
              </a:ext>
            </a:extLst>
          </p:cNvPr>
          <p:cNvSpPr/>
          <p:nvPr/>
        </p:nvSpPr>
        <p:spPr>
          <a:xfrm>
            <a:off x="5895975" y="1485900"/>
            <a:ext cx="4086255" cy="352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メールアドレス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17959E8-87E9-383B-A8CA-FC63D26E34E2}"/>
              </a:ext>
            </a:extLst>
          </p:cNvPr>
          <p:cNvSpPr/>
          <p:nvPr/>
        </p:nvSpPr>
        <p:spPr>
          <a:xfrm>
            <a:off x="4886325" y="2409825"/>
            <a:ext cx="6105525" cy="352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test@gmail.com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6BC223E-FBF3-A383-2A60-1897FB088912}"/>
              </a:ext>
            </a:extLst>
          </p:cNvPr>
          <p:cNvSpPr txBox="1"/>
          <p:nvPr/>
        </p:nvSpPr>
        <p:spPr>
          <a:xfrm>
            <a:off x="4886325" y="2102048"/>
            <a:ext cx="2619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メールアドレスを入力</a:t>
            </a:r>
            <a:endParaRPr kumimoji="1" lang="ja-JP" altLang="en-US" sz="1400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51D31320-8239-A4C2-B472-688B074FCAE5}"/>
              </a:ext>
            </a:extLst>
          </p:cNvPr>
          <p:cNvSpPr/>
          <p:nvPr/>
        </p:nvSpPr>
        <p:spPr>
          <a:xfrm>
            <a:off x="4886325" y="3333750"/>
            <a:ext cx="6105525" cy="352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solidFill>
                  <a:schemeClr val="tx1"/>
                </a:solidFill>
              </a:rPr>
              <a:t>***************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2BB5083-29E3-D162-310D-CF99548C1C86}"/>
              </a:ext>
            </a:extLst>
          </p:cNvPr>
          <p:cNvSpPr txBox="1"/>
          <p:nvPr/>
        </p:nvSpPr>
        <p:spPr>
          <a:xfrm>
            <a:off x="4886325" y="3025973"/>
            <a:ext cx="2619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パスワードを入力</a:t>
            </a:r>
            <a:endParaRPr kumimoji="1" lang="ja-JP" altLang="en-US" sz="1400" dirty="0"/>
          </a:p>
        </p:txBody>
      </p:sp>
      <p:sp>
        <p:nvSpPr>
          <p:cNvPr id="10" name="字幕 9">
            <a:extLst>
              <a:ext uri="{FF2B5EF4-FFF2-40B4-BE49-F238E27FC236}">
                <a16:creationId xmlns:a16="http://schemas.microsoft.com/office/drawing/2014/main" id="{C02DB04D-632B-CE5D-ED05-1F0B51EEA2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14" name="字幕 2">
            <a:extLst>
              <a:ext uri="{FF2B5EF4-FFF2-40B4-BE49-F238E27FC236}">
                <a16:creationId xmlns:a16="http://schemas.microsoft.com/office/drawing/2014/main" id="{5FE26D8C-6836-6C12-A155-E2791CA5ECB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001068" cy="3189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ja-JP" sz="1400">
                <a:latin typeface="HGS明朝E" panose="02020900000000000000" pitchFamily="18" charset="-128"/>
                <a:ea typeface="HGS明朝E" panose="02020900000000000000" pitchFamily="18" charset="-128"/>
              </a:rPr>
              <a:t>Chapter 3 : </a:t>
            </a:r>
            <a:r>
              <a:rPr lang="ja-JP" altLang="en-US" sz="1400">
                <a:latin typeface="HGS明朝E" panose="02020900000000000000" pitchFamily="18" charset="-128"/>
                <a:ea typeface="HGS明朝E" panose="02020900000000000000" pitchFamily="18" charset="-128"/>
              </a:rPr>
              <a:t>画面設計</a:t>
            </a:r>
            <a:endParaRPr lang="ja-JP" altLang="en-US" sz="1400" dirty="0">
              <a:latin typeface="HGS明朝E" panose="02020900000000000000" pitchFamily="18" charset="-128"/>
              <a:ea typeface="HGS明朝E" panose="020209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61929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1086</TotalTime>
  <Words>385</Words>
  <Application>Microsoft Office PowerPoint</Application>
  <PresentationFormat>ワイド画面</PresentationFormat>
  <Paragraphs>137</Paragraphs>
  <Slides>11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7" baseType="lpstr">
      <vt:lpstr>HGS創英角ｺﾞｼｯｸUB</vt:lpstr>
      <vt:lpstr>HGS明朝E</vt:lpstr>
      <vt:lpstr>游ゴシック</vt:lpstr>
      <vt:lpstr>游ゴシック Light</vt:lpstr>
      <vt:lpstr>Arial</vt:lpstr>
      <vt:lpstr>Office テーマ</vt:lpstr>
      <vt:lpstr>Resat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tomoyuki aoki</dc:creator>
  <cp:lastModifiedBy>青木 智之</cp:lastModifiedBy>
  <cp:revision>61</cp:revision>
  <dcterms:created xsi:type="dcterms:W3CDTF">2025-02-25T03:55:51Z</dcterms:created>
  <dcterms:modified xsi:type="dcterms:W3CDTF">2025-06-13T12:30:53Z</dcterms:modified>
</cp:coreProperties>
</file>